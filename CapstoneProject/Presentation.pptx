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Times New Roman Bold" charset="1" panose="02020803070505020304"/>
      <p:regular r:id="rId30"/>
    </p:embeddedFont>
    <p:embeddedFont>
      <p:font typeface="Times New Roman" charset="1" panose="020206030504050203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399838" y="0"/>
            <a:ext cx="3888162" cy="1571625"/>
            <a:chOff x="0" y="0"/>
            <a:chExt cx="1024043" cy="413926"/>
          </a:xfrm>
        </p:grpSpPr>
        <p:sp>
          <p:nvSpPr>
            <p:cNvPr name="Freeform 3" id="3"/>
            <p:cNvSpPr/>
            <p:nvPr/>
          </p:nvSpPr>
          <p:spPr>
            <a:xfrm flipH="false" flipV="false" rot="0">
              <a:off x="0" y="0"/>
              <a:ext cx="1024043" cy="413926"/>
            </a:xfrm>
            <a:custGeom>
              <a:avLst/>
              <a:gdLst/>
              <a:ahLst/>
              <a:cxnLst/>
              <a:rect r="r" b="b" t="t" l="l"/>
              <a:pathLst>
                <a:path h="413926" w="1024043">
                  <a:moveTo>
                    <a:pt x="0" y="0"/>
                  </a:moveTo>
                  <a:lnTo>
                    <a:pt x="1024043" y="0"/>
                  </a:lnTo>
                  <a:lnTo>
                    <a:pt x="1024043" y="413926"/>
                  </a:lnTo>
                  <a:lnTo>
                    <a:pt x="0" y="413926"/>
                  </a:lnTo>
                  <a:close/>
                </a:path>
              </a:pathLst>
            </a:custGeom>
            <a:solidFill>
              <a:srgbClr val="EAEBE9"/>
            </a:solidFill>
          </p:spPr>
        </p:sp>
        <p:sp>
          <p:nvSpPr>
            <p:cNvPr name="TextBox 4" id="4"/>
            <p:cNvSpPr txBox="true"/>
            <p:nvPr/>
          </p:nvSpPr>
          <p:spPr>
            <a:xfrm>
              <a:off x="0" y="-57150"/>
              <a:ext cx="1024043" cy="471076"/>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0" y="9100603"/>
            <a:ext cx="2830214" cy="1186397"/>
            <a:chOff x="0" y="0"/>
            <a:chExt cx="745406" cy="312467"/>
          </a:xfrm>
        </p:grpSpPr>
        <p:sp>
          <p:nvSpPr>
            <p:cNvPr name="Freeform 6" id="6"/>
            <p:cNvSpPr/>
            <p:nvPr/>
          </p:nvSpPr>
          <p:spPr>
            <a:xfrm flipH="false" flipV="false" rot="0">
              <a:off x="0" y="0"/>
              <a:ext cx="745406" cy="312467"/>
            </a:xfrm>
            <a:custGeom>
              <a:avLst/>
              <a:gdLst/>
              <a:ahLst/>
              <a:cxnLst/>
              <a:rect r="r" b="b" t="t" l="l"/>
              <a:pathLst>
                <a:path h="312467" w="745406">
                  <a:moveTo>
                    <a:pt x="0" y="0"/>
                  </a:moveTo>
                  <a:lnTo>
                    <a:pt x="745406" y="0"/>
                  </a:lnTo>
                  <a:lnTo>
                    <a:pt x="745406" y="312467"/>
                  </a:lnTo>
                  <a:lnTo>
                    <a:pt x="0" y="312467"/>
                  </a:lnTo>
                  <a:close/>
                </a:path>
              </a:pathLst>
            </a:custGeom>
            <a:solidFill>
              <a:srgbClr val="EAEBE9"/>
            </a:solidFill>
          </p:spPr>
        </p:sp>
        <p:sp>
          <p:nvSpPr>
            <p:cNvPr name="TextBox 7" id="7"/>
            <p:cNvSpPr txBox="true"/>
            <p:nvPr/>
          </p:nvSpPr>
          <p:spPr>
            <a:xfrm>
              <a:off x="0" y="-57150"/>
              <a:ext cx="745406" cy="369617"/>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2291162" y="2571750"/>
            <a:ext cx="13705675" cy="4786718"/>
          </a:xfrm>
          <a:prstGeom prst="rect">
            <a:avLst/>
          </a:prstGeom>
        </p:spPr>
        <p:txBody>
          <a:bodyPr anchor="t" rtlCol="false" tIns="0" lIns="0" bIns="0" rIns="0">
            <a:spAutoFit/>
          </a:bodyPr>
          <a:lstStyle/>
          <a:p>
            <a:pPr algn="ctr">
              <a:lnSpc>
                <a:spcPts val="9323"/>
              </a:lnSpc>
            </a:pPr>
            <a:r>
              <a:rPr lang="en-US" b="true" sz="8178">
                <a:solidFill>
                  <a:srgbClr val="000000"/>
                </a:solidFill>
                <a:latin typeface="Times New Roman Bold"/>
                <a:ea typeface="Times New Roman Bold"/>
                <a:cs typeface="Times New Roman Bold"/>
                <a:sym typeface="Times New Roman Bold"/>
              </a:rPr>
              <a:t>GLOBAL SALES &amp; RETAIL PERFORMANCE ANALYTICS SYSTEM</a:t>
            </a:r>
          </a:p>
          <a:p>
            <a:pPr algn="ctr" marL="0" indent="0" lvl="0">
              <a:lnSpc>
                <a:spcPts val="9323"/>
              </a:lnSpc>
            </a:pPr>
          </a:p>
        </p:txBody>
      </p:sp>
      <p:sp>
        <p:nvSpPr>
          <p:cNvPr name="TextBox 9" id="9"/>
          <p:cNvSpPr txBox="true"/>
          <p:nvPr/>
        </p:nvSpPr>
        <p:spPr>
          <a:xfrm rot="0">
            <a:off x="1771519" y="6298547"/>
            <a:ext cx="14744962" cy="1226194"/>
          </a:xfrm>
          <a:prstGeom prst="rect">
            <a:avLst/>
          </a:prstGeom>
        </p:spPr>
        <p:txBody>
          <a:bodyPr anchor="t" rtlCol="false" tIns="0" lIns="0" bIns="0" rIns="0">
            <a:spAutoFit/>
          </a:bodyPr>
          <a:lstStyle/>
          <a:p>
            <a:pPr algn="ctr">
              <a:lnSpc>
                <a:spcPts val="4864"/>
              </a:lnSpc>
            </a:pPr>
            <a:r>
              <a:rPr lang="en-US" sz="3474">
                <a:solidFill>
                  <a:srgbClr val="000000"/>
                </a:solidFill>
                <a:latin typeface="Times New Roman"/>
                <a:ea typeface="Times New Roman"/>
                <a:cs typeface="Times New Roman"/>
                <a:sym typeface="Times New Roman"/>
              </a:rPr>
              <a:t>An End-t</a:t>
            </a:r>
            <a:r>
              <a:rPr lang="en-US" sz="3474">
                <a:solidFill>
                  <a:srgbClr val="000000"/>
                </a:solidFill>
                <a:latin typeface="Times New Roman"/>
                <a:ea typeface="Times New Roman"/>
                <a:cs typeface="Times New Roman"/>
                <a:sym typeface="Times New Roman"/>
              </a:rPr>
              <a:t>o-End Data Engineering &amp; Analytics Project</a:t>
            </a:r>
          </a:p>
          <a:p>
            <a:pPr algn="ctr" marL="0" indent="0" lvl="0">
              <a:lnSpc>
                <a:spcPts val="4864"/>
              </a:lnSpc>
            </a:pPr>
          </a:p>
        </p:txBody>
      </p:sp>
      <p:sp>
        <p:nvSpPr>
          <p:cNvPr name="TextBox 10" id="10"/>
          <p:cNvSpPr txBox="true"/>
          <p:nvPr/>
        </p:nvSpPr>
        <p:spPr>
          <a:xfrm rot="0">
            <a:off x="13195530" y="8276558"/>
            <a:ext cx="4531794" cy="1181956"/>
          </a:xfrm>
          <a:prstGeom prst="rect">
            <a:avLst/>
          </a:prstGeom>
        </p:spPr>
        <p:txBody>
          <a:bodyPr anchor="t" rtlCol="false" tIns="0" lIns="0" bIns="0" rIns="0">
            <a:spAutoFit/>
          </a:bodyPr>
          <a:lstStyle/>
          <a:p>
            <a:pPr algn="r">
              <a:lnSpc>
                <a:spcPts val="4677"/>
              </a:lnSpc>
            </a:pPr>
            <a:r>
              <a:rPr lang="en-US" sz="3341" b="true">
                <a:solidFill>
                  <a:srgbClr val="000000"/>
                </a:solidFill>
                <a:latin typeface="Times New Roman Bold"/>
                <a:ea typeface="Times New Roman Bold"/>
                <a:cs typeface="Times New Roman Bold"/>
                <a:sym typeface="Times New Roman Bold"/>
              </a:rPr>
              <a:t>Ganji Misha Manmai</a:t>
            </a:r>
          </a:p>
          <a:p>
            <a:pPr algn="r" marL="0" indent="0" lvl="0">
              <a:lnSpc>
                <a:spcPts val="4677"/>
              </a:lnSpc>
              <a:spcBef>
                <a:spcPct val="0"/>
              </a:spcBef>
            </a:pPr>
            <a:r>
              <a:rPr lang="en-US" b="true" sz="3341">
                <a:solidFill>
                  <a:srgbClr val="000000"/>
                </a:solidFill>
                <a:latin typeface="Times New Roman Bold"/>
                <a:ea typeface="Times New Roman Bold"/>
                <a:cs typeface="Times New Roman Bold"/>
                <a:sym typeface="Times New Roman Bold"/>
              </a:rPr>
              <a:t>VNR VJIET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41361" y="-2496160"/>
            <a:ext cx="15656483" cy="1565648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BE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1315448" y="2407432"/>
            <a:ext cx="15943852" cy="8054975"/>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Retail sales data consists of the information generated when products are sold to customers by a retail organization. This data includes details related to sales transactions, products, customers, stores, and regions. Retail businesses generate large volumes of such data on a daily basis through both online and offline sales channels.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a:t>
            </a:r>
            <a:r>
              <a:rPr lang="en-US" sz="3500">
                <a:solidFill>
                  <a:srgbClr val="000000"/>
                </a:solidFill>
                <a:latin typeface="Times New Roman"/>
                <a:ea typeface="Times New Roman"/>
                <a:cs typeface="Times New Roman"/>
                <a:sym typeface="Times New Roman"/>
              </a:rPr>
              <a:t>etail sales analytics is the process of organizing and analyzing this data to understand business performance. By analyzing sales data, businesses can identify sales trends, understand customer purchasing behavior, evaluate product performance, and compare performance across different regions and stores.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a:t>
            </a:r>
            <a:r>
              <a:rPr lang="en-US" sz="3500">
                <a:solidFill>
                  <a:srgbClr val="000000"/>
                </a:solidFill>
                <a:latin typeface="Times New Roman"/>
                <a:ea typeface="Times New Roman"/>
                <a:cs typeface="Times New Roman"/>
                <a:sym typeface="Times New Roman"/>
              </a:rPr>
              <a:t>tail </a:t>
            </a:r>
            <a:r>
              <a:rPr lang="en-US" sz="3500">
                <a:solidFill>
                  <a:srgbClr val="000000"/>
                </a:solidFill>
                <a:latin typeface="Times New Roman"/>
                <a:ea typeface="Times New Roman"/>
                <a:cs typeface="Times New Roman"/>
                <a:sym typeface="Times New Roman"/>
              </a:rPr>
              <a:t>s</a:t>
            </a:r>
            <a:r>
              <a:rPr lang="en-US" sz="3500">
                <a:solidFill>
                  <a:srgbClr val="000000"/>
                </a:solidFill>
                <a:latin typeface="Times New Roman"/>
                <a:ea typeface="Times New Roman"/>
                <a:cs typeface="Times New Roman"/>
                <a:sym typeface="Times New Roman"/>
              </a:rPr>
              <a:t>a</a:t>
            </a:r>
            <a:r>
              <a:rPr lang="en-US" sz="3500">
                <a:solidFill>
                  <a:srgbClr val="000000"/>
                </a:solidFill>
                <a:latin typeface="Times New Roman"/>
                <a:ea typeface="Times New Roman"/>
                <a:cs typeface="Times New Roman"/>
                <a:sym typeface="Times New Roman"/>
              </a:rPr>
              <a:t>l</a:t>
            </a:r>
            <a:r>
              <a:rPr lang="en-US" sz="3500">
                <a:solidFill>
                  <a:srgbClr val="000000"/>
                </a:solidFill>
                <a:latin typeface="Times New Roman"/>
                <a:ea typeface="Times New Roman"/>
                <a:cs typeface="Times New Roman"/>
                <a:sym typeface="Times New Roman"/>
              </a:rPr>
              <a:t>es analy</a:t>
            </a:r>
            <a:r>
              <a:rPr lang="en-US" sz="3500">
                <a:solidFill>
                  <a:srgbClr val="000000"/>
                </a:solidFill>
                <a:latin typeface="Times New Roman"/>
                <a:ea typeface="Times New Roman"/>
                <a:cs typeface="Times New Roman"/>
                <a:sym typeface="Times New Roman"/>
              </a:rPr>
              <a:t>t</a:t>
            </a:r>
            <a:r>
              <a:rPr lang="en-US" sz="3500">
                <a:solidFill>
                  <a:srgbClr val="000000"/>
                </a:solidFill>
                <a:latin typeface="Times New Roman"/>
                <a:ea typeface="Times New Roman"/>
                <a:cs typeface="Times New Roman"/>
                <a:sym typeface="Times New Roman"/>
              </a:rPr>
              <a:t>ics helps organizations transform raw sales data into meaningful insights, which support better planning, performance monitoring, and informed business decision-making.</a:t>
            </a:r>
          </a:p>
          <a:p>
            <a:pPr algn="l" marL="0" indent="0" lvl="0">
              <a:lnSpc>
                <a:spcPts val="4900"/>
              </a:lnSpc>
              <a:spcBef>
                <a:spcPct val="0"/>
              </a:spcBef>
            </a:pPr>
          </a:p>
        </p:txBody>
      </p:sp>
      <p:sp>
        <p:nvSpPr>
          <p:cNvPr name="TextBox 6" id="6"/>
          <p:cNvSpPr txBox="true"/>
          <p:nvPr/>
        </p:nvSpPr>
        <p:spPr>
          <a:xfrm rot="0">
            <a:off x="1028700" y="639970"/>
            <a:ext cx="15749066" cy="10668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41361" y="-2496160"/>
            <a:ext cx="15656483" cy="1565648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BE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1315448" y="2407432"/>
            <a:ext cx="16444567" cy="8054975"/>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A global r</a:t>
            </a:r>
            <a:r>
              <a:rPr lang="en-US" sz="3500">
                <a:solidFill>
                  <a:srgbClr val="000000"/>
                </a:solidFill>
                <a:latin typeface="Times New Roman"/>
                <a:ea typeface="Times New Roman"/>
                <a:cs typeface="Times New Roman"/>
                <a:sym typeface="Times New Roman"/>
              </a:rPr>
              <a:t>etail organization generates large volumes of sales, customer, product, and store data across multiple regions and sales channels. This data is often stored in separate files and systems, making it difficult to consolidate, clean, and analyze efficiently.</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Due to the lack of an automated and centralized analytics system, the organization faces challenges such as inconsistent data quality, delayed reporting, and limited visibility into sales performance, profitability, and customer behavior. As a result, decision-making becomes time-consuming and less reliable.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There is a need for an end-to-end data analytics solution that can systematically ing</a:t>
            </a:r>
            <a:r>
              <a:rPr lang="en-US" sz="3500">
                <a:solidFill>
                  <a:srgbClr val="000000"/>
                </a:solidFill>
                <a:latin typeface="Times New Roman"/>
                <a:ea typeface="Times New Roman"/>
                <a:cs typeface="Times New Roman"/>
                <a:sym typeface="Times New Roman"/>
              </a:rPr>
              <a:t>es</a:t>
            </a:r>
            <a:r>
              <a:rPr lang="en-US" sz="3500">
                <a:solidFill>
                  <a:srgbClr val="000000"/>
                </a:solidFill>
                <a:latin typeface="Times New Roman"/>
                <a:ea typeface="Times New Roman"/>
                <a:cs typeface="Times New Roman"/>
                <a:sym typeface="Times New Roman"/>
              </a:rPr>
              <a:t>t raw retai</a:t>
            </a:r>
            <a:r>
              <a:rPr lang="en-US" sz="3500">
                <a:solidFill>
                  <a:srgbClr val="000000"/>
                </a:solidFill>
                <a:latin typeface="Times New Roman"/>
                <a:ea typeface="Times New Roman"/>
                <a:cs typeface="Times New Roman"/>
                <a:sym typeface="Times New Roman"/>
              </a:rPr>
              <a:t>l</a:t>
            </a:r>
            <a:r>
              <a:rPr lang="en-US" sz="3500">
                <a:solidFill>
                  <a:srgbClr val="000000"/>
                </a:solidFill>
                <a:latin typeface="Times New Roman"/>
                <a:ea typeface="Times New Roman"/>
                <a:cs typeface="Times New Roman"/>
                <a:sym typeface="Times New Roman"/>
              </a:rPr>
              <a:t> da</a:t>
            </a:r>
            <a:r>
              <a:rPr lang="en-US" sz="3500">
                <a:solidFill>
                  <a:srgbClr val="000000"/>
                </a:solidFill>
                <a:latin typeface="Times New Roman"/>
                <a:ea typeface="Times New Roman"/>
                <a:cs typeface="Times New Roman"/>
                <a:sym typeface="Times New Roman"/>
              </a:rPr>
              <a:t>t</a:t>
            </a:r>
            <a:r>
              <a:rPr lang="en-US" sz="3500">
                <a:solidFill>
                  <a:srgbClr val="000000"/>
                </a:solidFill>
                <a:latin typeface="Times New Roman"/>
                <a:ea typeface="Times New Roman"/>
                <a:cs typeface="Times New Roman"/>
                <a:sym typeface="Times New Roman"/>
              </a:rPr>
              <a:t>a, perform cleaning and transformation, generate meaningful business insights, and present them through interactive dashboards to support data-driven decision-making.</a:t>
            </a:r>
          </a:p>
          <a:p>
            <a:pPr algn="l" marL="0" indent="0" lvl="0">
              <a:lnSpc>
                <a:spcPts val="4900"/>
              </a:lnSpc>
              <a:spcBef>
                <a:spcPct val="0"/>
              </a:spcBef>
            </a:pPr>
          </a:p>
        </p:txBody>
      </p:sp>
      <p:sp>
        <p:nvSpPr>
          <p:cNvPr name="TextBox 6" id="6"/>
          <p:cNvSpPr txBox="true"/>
          <p:nvPr/>
        </p:nvSpPr>
        <p:spPr>
          <a:xfrm rot="0">
            <a:off x="1028700" y="639970"/>
            <a:ext cx="15749066" cy="10668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PROBLEM STATEMENT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552125" y="311166"/>
            <a:ext cx="8771927" cy="1094030"/>
            <a:chOff x="0" y="0"/>
            <a:chExt cx="2310302" cy="288140"/>
          </a:xfrm>
        </p:grpSpPr>
        <p:sp>
          <p:nvSpPr>
            <p:cNvPr name="Freeform 3" id="3"/>
            <p:cNvSpPr/>
            <p:nvPr/>
          </p:nvSpPr>
          <p:spPr>
            <a:xfrm flipH="false" flipV="false" rot="0">
              <a:off x="0" y="0"/>
              <a:ext cx="2310302" cy="288140"/>
            </a:xfrm>
            <a:custGeom>
              <a:avLst/>
              <a:gdLst/>
              <a:ahLst/>
              <a:cxnLst/>
              <a:rect r="r" b="b" t="t" l="l"/>
              <a:pathLst>
                <a:path h="288140" w="2310302">
                  <a:moveTo>
                    <a:pt x="0" y="0"/>
                  </a:moveTo>
                  <a:lnTo>
                    <a:pt x="2310302" y="0"/>
                  </a:lnTo>
                  <a:lnTo>
                    <a:pt x="2310302" y="288140"/>
                  </a:lnTo>
                  <a:lnTo>
                    <a:pt x="0" y="288140"/>
                  </a:lnTo>
                  <a:close/>
                </a:path>
              </a:pathLst>
            </a:custGeom>
            <a:solidFill>
              <a:srgbClr val="BBC8B1"/>
            </a:solidFill>
          </p:spPr>
        </p:sp>
        <p:sp>
          <p:nvSpPr>
            <p:cNvPr name="TextBox 4" id="4"/>
            <p:cNvSpPr txBox="true"/>
            <p:nvPr/>
          </p:nvSpPr>
          <p:spPr>
            <a:xfrm>
              <a:off x="0" y="-95250"/>
              <a:ext cx="2310302" cy="383390"/>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Build</a:t>
              </a:r>
              <a:r>
                <a:rPr lang="en-US" b="true" sz="3500">
                  <a:solidFill>
                    <a:srgbClr val="000000"/>
                  </a:solidFill>
                  <a:latin typeface="Times New Roman Bold"/>
                  <a:ea typeface="Times New Roman Bold"/>
                  <a:cs typeface="Times New Roman Bold"/>
                  <a:sym typeface="Times New Roman Bold"/>
                </a:rPr>
                <a:t> an end-to-end analytics pipeline</a:t>
              </a:r>
            </a:p>
          </p:txBody>
        </p:sp>
      </p:grpSp>
      <p:grpSp>
        <p:nvGrpSpPr>
          <p:cNvPr name="Group 5" id="5"/>
          <p:cNvGrpSpPr/>
          <p:nvPr/>
        </p:nvGrpSpPr>
        <p:grpSpPr>
          <a:xfrm rot="0">
            <a:off x="7552125" y="1803744"/>
            <a:ext cx="9819777" cy="1094030"/>
            <a:chOff x="0" y="0"/>
            <a:chExt cx="2586279" cy="288140"/>
          </a:xfrm>
        </p:grpSpPr>
        <p:sp>
          <p:nvSpPr>
            <p:cNvPr name="Freeform 6" id="6"/>
            <p:cNvSpPr/>
            <p:nvPr/>
          </p:nvSpPr>
          <p:spPr>
            <a:xfrm flipH="false" flipV="false" rot="0">
              <a:off x="0" y="0"/>
              <a:ext cx="2586279" cy="288140"/>
            </a:xfrm>
            <a:custGeom>
              <a:avLst/>
              <a:gdLst/>
              <a:ahLst/>
              <a:cxnLst/>
              <a:rect r="r" b="b" t="t" l="l"/>
              <a:pathLst>
                <a:path h="288140" w="2586279">
                  <a:moveTo>
                    <a:pt x="0" y="0"/>
                  </a:moveTo>
                  <a:lnTo>
                    <a:pt x="2586279" y="0"/>
                  </a:lnTo>
                  <a:lnTo>
                    <a:pt x="2586279" y="288140"/>
                  </a:lnTo>
                  <a:lnTo>
                    <a:pt x="0" y="288140"/>
                  </a:lnTo>
                  <a:close/>
                </a:path>
              </a:pathLst>
            </a:custGeom>
            <a:solidFill>
              <a:srgbClr val="BBC8B1"/>
            </a:solidFill>
          </p:spPr>
        </p:sp>
        <p:sp>
          <p:nvSpPr>
            <p:cNvPr name="TextBox 7" id="7"/>
            <p:cNvSpPr txBox="true"/>
            <p:nvPr/>
          </p:nvSpPr>
          <p:spPr>
            <a:xfrm>
              <a:off x="0" y="-95250"/>
              <a:ext cx="2586279" cy="383390"/>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Automat</a:t>
              </a:r>
              <a:r>
                <a:rPr lang="en-US" b="true" sz="3500">
                  <a:solidFill>
                    <a:srgbClr val="000000"/>
                  </a:solidFill>
                  <a:latin typeface="Times New Roman Bold"/>
                  <a:ea typeface="Times New Roman Bold"/>
                  <a:cs typeface="Times New Roman Bold"/>
                  <a:sym typeface="Times New Roman Bold"/>
                </a:rPr>
                <a:t>e data ingestion and transformation</a:t>
              </a:r>
            </a:p>
          </p:txBody>
        </p:sp>
      </p:grpSp>
      <p:grpSp>
        <p:nvGrpSpPr>
          <p:cNvPr name="Group 8" id="8"/>
          <p:cNvGrpSpPr/>
          <p:nvPr/>
        </p:nvGrpSpPr>
        <p:grpSpPr>
          <a:xfrm rot="0">
            <a:off x="7552125" y="3296323"/>
            <a:ext cx="8422644" cy="1251687"/>
            <a:chOff x="0" y="0"/>
            <a:chExt cx="2218309" cy="329663"/>
          </a:xfrm>
        </p:grpSpPr>
        <p:sp>
          <p:nvSpPr>
            <p:cNvPr name="Freeform 9" id="9"/>
            <p:cNvSpPr/>
            <p:nvPr/>
          </p:nvSpPr>
          <p:spPr>
            <a:xfrm flipH="false" flipV="false" rot="0">
              <a:off x="0" y="0"/>
              <a:ext cx="2218309" cy="329663"/>
            </a:xfrm>
            <a:custGeom>
              <a:avLst/>
              <a:gdLst/>
              <a:ahLst/>
              <a:cxnLst/>
              <a:rect r="r" b="b" t="t" l="l"/>
              <a:pathLst>
                <a:path h="329663" w="2218309">
                  <a:moveTo>
                    <a:pt x="0" y="0"/>
                  </a:moveTo>
                  <a:lnTo>
                    <a:pt x="2218309" y="0"/>
                  </a:lnTo>
                  <a:lnTo>
                    <a:pt x="2218309" y="329663"/>
                  </a:lnTo>
                  <a:lnTo>
                    <a:pt x="0" y="329663"/>
                  </a:lnTo>
                  <a:close/>
                </a:path>
              </a:pathLst>
            </a:custGeom>
            <a:solidFill>
              <a:srgbClr val="BBC8B1"/>
            </a:solidFill>
          </p:spPr>
        </p:sp>
        <p:sp>
          <p:nvSpPr>
            <p:cNvPr name="TextBox 10" id="10"/>
            <p:cNvSpPr txBox="true"/>
            <p:nvPr/>
          </p:nvSpPr>
          <p:spPr>
            <a:xfrm>
              <a:off x="0" y="-95250"/>
              <a:ext cx="2218309" cy="424913"/>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Improv</a:t>
              </a:r>
              <a:r>
                <a:rPr lang="en-US" b="true" sz="3500">
                  <a:solidFill>
                    <a:srgbClr val="000000"/>
                  </a:solidFill>
                  <a:latin typeface="Times New Roman Bold"/>
                  <a:ea typeface="Times New Roman Bold"/>
                  <a:cs typeface="Times New Roman Bold"/>
                  <a:sym typeface="Times New Roman Bold"/>
                </a:rPr>
                <a:t>e data quality and consistency</a:t>
              </a:r>
            </a:p>
          </p:txBody>
        </p:sp>
      </p:grpSp>
      <p:grpSp>
        <p:nvGrpSpPr>
          <p:cNvPr name="Group 11" id="11"/>
          <p:cNvGrpSpPr/>
          <p:nvPr/>
        </p:nvGrpSpPr>
        <p:grpSpPr>
          <a:xfrm rot="0">
            <a:off x="563137" y="-247664"/>
            <a:ext cx="6584375" cy="11174045"/>
            <a:chOff x="0" y="0"/>
            <a:chExt cx="1734156" cy="2942958"/>
          </a:xfrm>
        </p:grpSpPr>
        <p:sp>
          <p:nvSpPr>
            <p:cNvPr name="Freeform 12" id="12"/>
            <p:cNvSpPr/>
            <p:nvPr/>
          </p:nvSpPr>
          <p:spPr>
            <a:xfrm flipH="false" flipV="false" rot="0">
              <a:off x="0" y="0"/>
              <a:ext cx="1734156" cy="2942958"/>
            </a:xfrm>
            <a:custGeom>
              <a:avLst/>
              <a:gdLst/>
              <a:ahLst/>
              <a:cxnLst/>
              <a:rect r="r" b="b" t="t" l="l"/>
              <a:pathLst>
                <a:path h="2942958" w="1734156">
                  <a:moveTo>
                    <a:pt x="0" y="0"/>
                  </a:moveTo>
                  <a:lnTo>
                    <a:pt x="1734156" y="0"/>
                  </a:lnTo>
                  <a:lnTo>
                    <a:pt x="1734156" y="2942958"/>
                  </a:lnTo>
                  <a:lnTo>
                    <a:pt x="0" y="2942958"/>
                  </a:lnTo>
                  <a:close/>
                </a:path>
              </a:pathLst>
            </a:custGeom>
            <a:solidFill>
              <a:srgbClr val="EAEBE9"/>
            </a:solidFill>
          </p:spPr>
        </p:sp>
        <p:sp>
          <p:nvSpPr>
            <p:cNvPr name="TextBox 13" id="13"/>
            <p:cNvSpPr txBox="true"/>
            <p:nvPr/>
          </p:nvSpPr>
          <p:spPr>
            <a:xfrm>
              <a:off x="0" y="-57150"/>
              <a:ext cx="1734156" cy="3000108"/>
            </a:xfrm>
            <a:prstGeom prst="rect">
              <a:avLst/>
            </a:prstGeom>
          </p:spPr>
          <p:txBody>
            <a:bodyPr anchor="ctr" rtlCol="false" tIns="50800" lIns="50800" bIns="50800" rIns="50800"/>
            <a:lstStyle/>
            <a:p>
              <a:pPr algn="ctr">
                <a:lnSpc>
                  <a:spcPts val="3012"/>
                </a:lnSpc>
              </a:pPr>
            </a:p>
          </p:txBody>
        </p:sp>
      </p:grpSp>
      <p:sp>
        <p:nvSpPr>
          <p:cNvPr name="TextBox 14" id="14"/>
          <p:cNvSpPr txBox="true"/>
          <p:nvPr/>
        </p:nvSpPr>
        <p:spPr>
          <a:xfrm rot="0">
            <a:off x="1028700" y="1162723"/>
            <a:ext cx="6118812" cy="21336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PROJECT OBJECTIVES</a:t>
            </a:r>
          </a:p>
        </p:txBody>
      </p:sp>
      <p:grpSp>
        <p:nvGrpSpPr>
          <p:cNvPr name="Group 15" id="15"/>
          <p:cNvGrpSpPr/>
          <p:nvPr/>
        </p:nvGrpSpPr>
        <p:grpSpPr>
          <a:xfrm rot="0">
            <a:off x="7552125" y="4948060"/>
            <a:ext cx="8029700" cy="1094030"/>
            <a:chOff x="0" y="0"/>
            <a:chExt cx="2114818" cy="288140"/>
          </a:xfrm>
        </p:grpSpPr>
        <p:sp>
          <p:nvSpPr>
            <p:cNvPr name="Freeform 16" id="16"/>
            <p:cNvSpPr/>
            <p:nvPr/>
          </p:nvSpPr>
          <p:spPr>
            <a:xfrm flipH="false" flipV="false" rot="0">
              <a:off x="0" y="0"/>
              <a:ext cx="2114818" cy="288140"/>
            </a:xfrm>
            <a:custGeom>
              <a:avLst/>
              <a:gdLst/>
              <a:ahLst/>
              <a:cxnLst/>
              <a:rect r="r" b="b" t="t" l="l"/>
              <a:pathLst>
                <a:path h="288140" w="2114818">
                  <a:moveTo>
                    <a:pt x="0" y="0"/>
                  </a:moveTo>
                  <a:lnTo>
                    <a:pt x="2114818" y="0"/>
                  </a:lnTo>
                  <a:lnTo>
                    <a:pt x="2114818" y="288140"/>
                  </a:lnTo>
                  <a:lnTo>
                    <a:pt x="0" y="288140"/>
                  </a:lnTo>
                  <a:close/>
                </a:path>
              </a:pathLst>
            </a:custGeom>
            <a:solidFill>
              <a:srgbClr val="BBC8B1"/>
            </a:solidFill>
          </p:spPr>
        </p:sp>
        <p:sp>
          <p:nvSpPr>
            <p:cNvPr name="TextBox 17" id="17"/>
            <p:cNvSpPr txBox="true"/>
            <p:nvPr/>
          </p:nvSpPr>
          <p:spPr>
            <a:xfrm>
              <a:off x="0" y="-95250"/>
              <a:ext cx="2114818" cy="383390"/>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Ge</a:t>
              </a:r>
              <a:r>
                <a:rPr lang="en-US" b="true" sz="3500">
                  <a:solidFill>
                    <a:srgbClr val="000000"/>
                  </a:solidFill>
                  <a:latin typeface="Times New Roman Bold"/>
                  <a:ea typeface="Times New Roman Bold"/>
                  <a:cs typeface="Times New Roman Bold"/>
                  <a:sym typeface="Times New Roman Bold"/>
                </a:rPr>
                <a:t>nerate meaningful business KPIs </a:t>
              </a:r>
            </a:p>
          </p:txBody>
        </p:sp>
      </p:grpSp>
      <p:grpSp>
        <p:nvGrpSpPr>
          <p:cNvPr name="Group 18" id="18"/>
          <p:cNvGrpSpPr/>
          <p:nvPr/>
        </p:nvGrpSpPr>
        <p:grpSpPr>
          <a:xfrm rot="0">
            <a:off x="7552125" y="6442140"/>
            <a:ext cx="8771927" cy="1094030"/>
            <a:chOff x="0" y="0"/>
            <a:chExt cx="2310302" cy="288140"/>
          </a:xfrm>
        </p:grpSpPr>
        <p:sp>
          <p:nvSpPr>
            <p:cNvPr name="Freeform 19" id="19"/>
            <p:cNvSpPr/>
            <p:nvPr/>
          </p:nvSpPr>
          <p:spPr>
            <a:xfrm flipH="false" flipV="false" rot="0">
              <a:off x="0" y="0"/>
              <a:ext cx="2310302" cy="288140"/>
            </a:xfrm>
            <a:custGeom>
              <a:avLst/>
              <a:gdLst/>
              <a:ahLst/>
              <a:cxnLst/>
              <a:rect r="r" b="b" t="t" l="l"/>
              <a:pathLst>
                <a:path h="288140" w="2310302">
                  <a:moveTo>
                    <a:pt x="0" y="0"/>
                  </a:moveTo>
                  <a:lnTo>
                    <a:pt x="2310302" y="0"/>
                  </a:lnTo>
                  <a:lnTo>
                    <a:pt x="2310302" y="288140"/>
                  </a:lnTo>
                  <a:lnTo>
                    <a:pt x="0" y="288140"/>
                  </a:lnTo>
                  <a:close/>
                </a:path>
              </a:pathLst>
            </a:custGeom>
            <a:solidFill>
              <a:srgbClr val="BBC8B1"/>
            </a:solidFill>
          </p:spPr>
        </p:sp>
        <p:sp>
          <p:nvSpPr>
            <p:cNvPr name="TextBox 20" id="20"/>
            <p:cNvSpPr txBox="true"/>
            <p:nvPr/>
          </p:nvSpPr>
          <p:spPr>
            <a:xfrm>
              <a:off x="0" y="-95250"/>
              <a:ext cx="2310302" cy="383390"/>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Creat</a:t>
              </a:r>
              <a:r>
                <a:rPr lang="en-US" b="true" sz="3500">
                  <a:solidFill>
                    <a:srgbClr val="000000"/>
                  </a:solidFill>
                  <a:latin typeface="Times New Roman Bold"/>
                  <a:ea typeface="Times New Roman Bold"/>
                  <a:cs typeface="Times New Roman Bold"/>
                  <a:sym typeface="Times New Roman Bold"/>
                </a:rPr>
                <a:t>e interactive Power BI dashboards </a:t>
              </a:r>
            </a:p>
          </p:txBody>
        </p:sp>
      </p:grpSp>
      <p:grpSp>
        <p:nvGrpSpPr>
          <p:cNvPr name="Group 21" id="21"/>
          <p:cNvGrpSpPr/>
          <p:nvPr/>
        </p:nvGrpSpPr>
        <p:grpSpPr>
          <a:xfrm rot="0">
            <a:off x="7552125" y="7936220"/>
            <a:ext cx="10343702" cy="1251687"/>
            <a:chOff x="0" y="0"/>
            <a:chExt cx="2724267" cy="329663"/>
          </a:xfrm>
        </p:grpSpPr>
        <p:sp>
          <p:nvSpPr>
            <p:cNvPr name="Freeform 22" id="22"/>
            <p:cNvSpPr/>
            <p:nvPr/>
          </p:nvSpPr>
          <p:spPr>
            <a:xfrm flipH="false" flipV="false" rot="0">
              <a:off x="0" y="0"/>
              <a:ext cx="2724267" cy="329663"/>
            </a:xfrm>
            <a:custGeom>
              <a:avLst/>
              <a:gdLst/>
              <a:ahLst/>
              <a:cxnLst/>
              <a:rect r="r" b="b" t="t" l="l"/>
              <a:pathLst>
                <a:path h="329663" w="2724267">
                  <a:moveTo>
                    <a:pt x="0" y="0"/>
                  </a:moveTo>
                  <a:lnTo>
                    <a:pt x="2724267" y="0"/>
                  </a:lnTo>
                  <a:lnTo>
                    <a:pt x="2724267" y="329663"/>
                  </a:lnTo>
                  <a:lnTo>
                    <a:pt x="0" y="329663"/>
                  </a:lnTo>
                  <a:close/>
                </a:path>
              </a:pathLst>
            </a:custGeom>
            <a:solidFill>
              <a:srgbClr val="BBC8B1"/>
            </a:solidFill>
          </p:spPr>
        </p:sp>
        <p:sp>
          <p:nvSpPr>
            <p:cNvPr name="TextBox 23" id="23"/>
            <p:cNvSpPr txBox="true"/>
            <p:nvPr/>
          </p:nvSpPr>
          <p:spPr>
            <a:xfrm>
              <a:off x="0" y="-95250"/>
              <a:ext cx="2724267" cy="424913"/>
            </a:xfrm>
            <a:prstGeom prst="rect">
              <a:avLst/>
            </a:prstGeom>
          </p:spPr>
          <p:txBody>
            <a:bodyPr anchor="ctr" rtlCol="false" tIns="50800" lIns="50800" bIns="50800" rIns="50800"/>
            <a:lstStyle/>
            <a:p>
              <a:pPr algn="ctr" marL="755651" indent="-377825" lvl="1">
                <a:lnSpc>
                  <a:spcPts val="4900"/>
                </a:lnSpc>
                <a:buFont typeface="Arial"/>
                <a:buChar char="•"/>
              </a:pPr>
              <a:r>
                <a:rPr lang="en-US" b="true" sz="3500">
                  <a:solidFill>
                    <a:srgbClr val="000000"/>
                  </a:solidFill>
                  <a:latin typeface="Times New Roman Bold"/>
                  <a:ea typeface="Times New Roman Bold"/>
                  <a:cs typeface="Times New Roman Bold"/>
                  <a:sym typeface="Times New Roman Bold"/>
                </a:rPr>
                <a:t>Demonstr</a:t>
              </a:r>
              <a:r>
                <a:rPr lang="en-US" b="true" sz="3500">
                  <a:solidFill>
                    <a:srgbClr val="000000"/>
                  </a:solidFill>
                  <a:latin typeface="Times New Roman Bold"/>
                  <a:ea typeface="Times New Roman Bold"/>
                  <a:cs typeface="Times New Roman Bold"/>
                  <a:sym typeface="Times New Roman Bold"/>
                </a:rPr>
                <a:t>ate real-world ETL and orchestration</a:t>
              </a: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901" y="1486846"/>
            <a:ext cx="18750566" cy="11174045"/>
            <a:chOff x="0" y="0"/>
            <a:chExt cx="4938421" cy="2942958"/>
          </a:xfrm>
        </p:grpSpPr>
        <p:sp>
          <p:nvSpPr>
            <p:cNvPr name="Freeform 3" id="3"/>
            <p:cNvSpPr/>
            <p:nvPr/>
          </p:nvSpPr>
          <p:spPr>
            <a:xfrm flipH="false" flipV="false" rot="0">
              <a:off x="0" y="0"/>
              <a:ext cx="4938421" cy="2942958"/>
            </a:xfrm>
            <a:custGeom>
              <a:avLst/>
              <a:gdLst/>
              <a:ahLst/>
              <a:cxnLst/>
              <a:rect r="r" b="b" t="t" l="l"/>
              <a:pathLst>
                <a:path h="2942958" w="4938421">
                  <a:moveTo>
                    <a:pt x="0" y="0"/>
                  </a:moveTo>
                  <a:lnTo>
                    <a:pt x="4938421" y="0"/>
                  </a:lnTo>
                  <a:lnTo>
                    <a:pt x="4938421" y="2942958"/>
                  </a:lnTo>
                  <a:lnTo>
                    <a:pt x="0" y="2942958"/>
                  </a:lnTo>
                  <a:close/>
                </a:path>
              </a:pathLst>
            </a:custGeom>
            <a:solidFill>
              <a:srgbClr val="EAEBE9"/>
            </a:solidFill>
          </p:spPr>
        </p:sp>
        <p:sp>
          <p:nvSpPr>
            <p:cNvPr name="TextBox 4" id="4"/>
            <p:cNvSpPr txBox="true"/>
            <p:nvPr/>
          </p:nvSpPr>
          <p:spPr>
            <a:xfrm>
              <a:off x="0" y="-57150"/>
              <a:ext cx="4938421" cy="3000108"/>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1384944" y="418154"/>
            <a:ext cx="5166530" cy="10668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DATA SCOPE</a:t>
            </a:r>
          </a:p>
        </p:txBody>
      </p:sp>
      <p:sp>
        <p:nvSpPr>
          <p:cNvPr name="TextBox 6" id="6"/>
          <p:cNvSpPr txBox="true"/>
          <p:nvPr/>
        </p:nvSpPr>
        <p:spPr>
          <a:xfrm rot="0">
            <a:off x="1142512" y="1998345"/>
            <a:ext cx="16399739" cy="8288655"/>
          </a:xfrm>
          <a:prstGeom prst="rect">
            <a:avLst/>
          </a:prstGeom>
        </p:spPr>
        <p:txBody>
          <a:bodyPr anchor="t" rtlCol="false" tIns="0" lIns="0" bIns="0" rIns="0">
            <a:spAutoFit/>
          </a:bodyPr>
          <a:lstStyle/>
          <a:p>
            <a:pPr algn="just" marL="755651" indent="-377825" lvl="1">
              <a:lnSpc>
                <a:spcPts val="3885"/>
              </a:lnSpc>
              <a:buFont typeface="Arial"/>
              <a:buChar char="•"/>
            </a:pPr>
            <a:r>
              <a:rPr lang="en-US" b="true" sz="3500">
                <a:solidFill>
                  <a:srgbClr val="000000"/>
                </a:solidFill>
                <a:latin typeface="Times New Roman Bold"/>
                <a:ea typeface="Times New Roman Bold"/>
                <a:cs typeface="Times New Roman Bold"/>
                <a:sym typeface="Times New Roman Bold"/>
              </a:rPr>
              <a:t>Order-Level Sales Transactions</a:t>
            </a:r>
          </a:p>
          <a:p>
            <a:pPr algn="just">
              <a:lnSpc>
                <a:spcPts val="3885"/>
              </a:lnSpc>
            </a:pPr>
            <a:r>
              <a:rPr lang="en-US" sz="3500">
                <a:solidFill>
                  <a:srgbClr val="000000"/>
                </a:solidFill>
                <a:latin typeface="Times New Roman"/>
                <a:ea typeface="Times New Roman"/>
                <a:cs typeface="Times New Roman"/>
                <a:sym typeface="Times New Roman"/>
              </a:rPr>
              <a:t>The project processes detailed </a:t>
            </a:r>
            <a:r>
              <a:rPr lang="en-US" sz="3500">
                <a:solidFill>
                  <a:srgbClr val="000000"/>
                </a:solidFill>
                <a:latin typeface="Times New Roman"/>
                <a:ea typeface="Times New Roman"/>
                <a:cs typeface="Times New Roman"/>
                <a:sym typeface="Times New Roman"/>
              </a:rPr>
              <a:t>order-level data including order ID, order date, quantity sold, unit price, discounts, and revenue, enabling accurate sales trend and performance analysis.</a:t>
            </a:r>
          </a:p>
          <a:p>
            <a:pPr algn="just">
              <a:lnSpc>
                <a:spcPts val="3885"/>
              </a:lnSpc>
            </a:pPr>
          </a:p>
          <a:p>
            <a:pPr algn="just" marL="755651" indent="-377825" lvl="1">
              <a:lnSpc>
                <a:spcPts val="3885"/>
              </a:lnSpc>
              <a:buFont typeface="Arial"/>
              <a:buChar char="•"/>
            </a:pPr>
            <a:r>
              <a:rPr lang="en-US" b="true" sz="3500">
                <a:solidFill>
                  <a:srgbClr val="000000"/>
                </a:solidFill>
                <a:latin typeface="Times New Roman Bold"/>
                <a:ea typeface="Times New Roman Bold"/>
                <a:cs typeface="Times New Roman Bold"/>
                <a:sym typeface="Times New Roman Bold"/>
              </a:rPr>
              <a:t>Product &amp; Category Details</a:t>
            </a:r>
          </a:p>
          <a:p>
            <a:pPr algn="just">
              <a:lnSpc>
                <a:spcPts val="3885"/>
              </a:lnSpc>
            </a:pPr>
            <a:r>
              <a:rPr lang="en-US" sz="3500">
                <a:solidFill>
                  <a:srgbClr val="000000"/>
                </a:solidFill>
                <a:latin typeface="Times New Roman"/>
                <a:ea typeface="Times New Roman"/>
                <a:cs typeface="Times New Roman"/>
                <a:sym typeface="Times New Roman"/>
              </a:rPr>
              <a:t>Product master data such as product ID, product name, category, sub-category, and cost information is used to analyze product performance, profitability, and category-level trends.</a:t>
            </a:r>
          </a:p>
          <a:p>
            <a:pPr algn="just">
              <a:lnSpc>
                <a:spcPts val="3885"/>
              </a:lnSpc>
            </a:pPr>
          </a:p>
          <a:p>
            <a:pPr algn="just" marL="755651" indent="-377825" lvl="1">
              <a:lnSpc>
                <a:spcPts val="3885"/>
              </a:lnSpc>
              <a:buFont typeface="Arial"/>
              <a:buChar char="•"/>
            </a:pPr>
            <a:r>
              <a:rPr lang="en-US" b="true" sz="3500">
                <a:solidFill>
                  <a:srgbClr val="000000"/>
                </a:solidFill>
                <a:latin typeface="Times New Roman Bold"/>
                <a:ea typeface="Times New Roman Bold"/>
                <a:cs typeface="Times New Roman Bold"/>
                <a:sym typeface="Times New Roman Bold"/>
              </a:rPr>
              <a:t>Regional &amp; Store-Level Sales Data</a:t>
            </a:r>
          </a:p>
          <a:p>
            <a:pPr algn="just">
              <a:lnSpc>
                <a:spcPts val="3885"/>
              </a:lnSpc>
            </a:pPr>
            <a:r>
              <a:rPr lang="en-US" sz="3500">
                <a:solidFill>
                  <a:srgbClr val="000000"/>
                </a:solidFill>
                <a:latin typeface="Times New Roman"/>
                <a:ea typeface="Times New Roman"/>
                <a:cs typeface="Times New Roman"/>
                <a:sym typeface="Times New Roman"/>
              </a:rPr>
              <a:t>Store and region information is integrated with sales and returns data to evaluate regional performance, store-level revenue, return rates, and net sales contribution.</a:t>
            </a:r>
          </a:p>
          <a:p>
            <a:pPr algn="just">
              <a:lnSpc>
                <a:spcPts val="3885"/>
              </a:lnSpc>
            </a:pPr>
          </a:p>
          <a:p>
            <a:pPr algn="just" marL="755651" indent="-377825" lvl="1">
              <a:lnSpc>
                <a:spcPts val="3885"/>
              </a:lnSpc>
              <a:buFont typeface="Arial"/>
              <a:buChar char="•"/>
            </a:pPr>
            <a:r>
              <a:rPr lang="en-US" b="true" sz="3500">
                <a:solidFill>
                  <a:srgbClr val="000000"/>
                </a:solidFill>
                <a:latin typeface="Times New Roman Bold"/>
                <a:ea typeface="Times New Roman Bold"/>
                <a:cs typeface="Times New Roman Bold"/>
                <a:sym typeface="Times New Roman Bold"/>
              </a:rPr>
              <a:t>Customer Purchase Behavior</a:t>
            </a:r>
          </a:p>
          <a:p>
            <a:pPr algn="just">
              <a:lnSpc>
                <a:spcPts val="3885"/>
              </a:lnSpc>
            </a:pPr>
            <a:r>
              <a:rPr lang="en-US" sz="3500">
                <a:solidFill>
                  <a:srgbClr val="000000"/>
                </a:solidFill>
                <a:latin typeface="Times New Roman"/>
                <a:ea typeface="Times New Roman"/>
                <a:cs typeface="Times New Roman"/>
                <a:sym typeface="Times New Roman"/>
              </a:rPr>
              <a:t>Customer data including customer ID, segment, purchase frequency, and total spend is analyzed to understand customer buying patterns, segmentation, and overall customer value.</a:t>
            </a:r>
          </a:p>
          <a:p>
            <a:pPr algn="just">
              <a:lnSpc>
                <a:spcPts val="388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8983" y="1759428"/>
            <a:ext cx="11301259" cy="2288505"/>
          </a:xfrm>
          <a:custGeom>
            <a:avLst/>
            <a:gdLst/>
            <a:ahLst/>
            <a:cxnLst/>
            <a:rect r="r" b="b" t="t" l="l"/>
            <a:pathLst>
              <a:path h="2288505" w="11301259">
                <a:moveTo>
                  <a:pt x="0" y="0"/>
                </a:moveTo>
                <a:lnTo>
                  <a:pt x="11301259" y="0"/>
                </a:lnTo>
                <a:lnTo>
                  <a:pt x="11301259" y="2288505"/>
                </a:lnTo>
                <a:lnTo>
                  <a:pt x="0" y="2288505"/>
                </a:lnTo>
                <a:lnTo>
                  <a:pt x="0" y="0"/>
                </a:lnTo>
                <a:close/>
              </a:path>
            </a:pathLst>
          </a:custGeom>
          <a:blipFill>
            <a:blip r:embed="rId2"/>
            <a:stretch>
              <a:fillRect l="0" t="0" r="0" b="0"/>
            </a:stretch>
          </a:blipFill>
        </p:spPr>
      </p:sp>
      <p:sp>
        <p:nvSpPr>
          <p:cNvPr name="Freeform 3" id="3"/>
          <p:cNvSpPr/>
          <p:nvPr/>
        </p:nvSpPr>
        <p:spPr>
          <a:xfrm flipH="false" flipV="false" rot="0">
            <a:off x="578983" y="4406459"/>
            <a:ext cx="11301259" cy="2486277"/>
          </a:xfrm>
          <a:custGeom>
            <a:avLst/>
            <a:gdLst/>
            <a:ahLst/>
            <a:cxnLst/>
            <a:rect r="r" b="b" t="t" l="l"/>
            <a:pathLst>
              <a:path h="2486277" w="11301259">
                <a:moveTo>
                  <a:pt x="0" y="0"/>
                </a:moveTo>
                <a:lnTo>
                  <a:pt x="11301259" y="0"/>
                </a:lnTo>
                <a:lnTo>
                  <a:pt x="11301259" y="2486277"/>
                </a:lnTo>
                <a:lnTo>
                  <a:pt x="0" y="2486277"/>
                </a:lnTo>
                <a:lnTo>
                  <a:pt x="0" y="0"/>
                </a:lnTo>
                <a:close/>
              </a:path>
            </a:pathLst>
          </a:custGeom>
          <a:blipFill>
            <a:blip r:embed="rId3"/>
            <a:stretch>
              <a:fillRect l="0" t="0" r="0" b="0"/>
            </a:stretch>
          </a:blipFill>
        </p:spPr>
      </p:sp>
      <p:sp>
        <p:nvSpPr>
          <p:cNvPr name="Freeform 4" id="4"/>
          <p:cNvSpPr/>
          <p:nvPr/>
        </p:nvSpPr>
        <p:spPr>
          <a:xfrm flipH="false" flipV="false" rot="0">
            <a:off x="578983" y="7168961"/>
            <a:ext cx="11301259" cy="2924201"/>
          </a:xfrm>
          <a:custGeom>
            <a:avLst/>
            <a:gdLst/>
            <a:ahLst/>
            <a:cxnLst/>
            <a:rect r="r" b="b" t="t" l="l"/>
            <a:pathLst>
              <a:path h="2924201" w="11301259">
                <a:moveTo>
                  <a:pt x="0" y="0"/>
                </a:moveTo>
                <a:lnTo>
                  <a:pt x="11301259" y="0"/>
                </a:lnTo>
                <a:lnTo>
                  <a:pt x="11301259" y="2924201"/>
                </a:lnTo>
                <a:lnTo>
                  <a:pt x="0" y="2924201"/>
                </a:lnTo>
                <a:lnTo>
                  <a:pt x="0" y="0"/>
                </a:lnTo>
                <a:close/>
              </a:path>
            </a:pathLst>
          </a:custGeom>
          <a:blipFill>
            <a:blip r:embed="rId4"/>
            <a:stretch>
              <a:fillRect l="0" t="0" r="0" b="0"/>
            </a:stretch>
          </a:blipFill>
        </p:spPr>
      </p:sp>
      <p:sp>
        <p:nvSpPr>
          <p:cNvPr name="TextBox 5" id="5"/>
          <p:cNvSpPr txBox="true"/>
          <p:nvPr/>
        </p:nvSpPr>
        <p:spPr>
          <a:xfrm rot="0">
            <a:off x="329634" y="413726"/>
            <a:ext cx="9156908"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DATASETS USED</a:t>
            </a:r>
          </a:p>
        </p:txBody>
      </p:sp>
      <p:sp>
        <p:nvSpPr>
          <p:cNvPr name="TextBox 6" id="6"/>
          <p:cNvSpPr txBox="true"/>
          <p:nvPr/>
        </p:nvSpPr>
        <p:spPr>
          <a:xfrm rot="0">
            <a:off x="12128904" y="2039801"/>
            <a:ext cx="6159096" cy="167061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10150 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Order-level transactional data</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Contains order ID, date, product, quantity, pricing, discounts, and revenue-related fields</a:t>
            </a:r>
          </a:p>
        </p:txBody>
      </p:sp>
      <p:sp>
        <p:nvSpPr>
          <p:cNvPr name="TextBox 7" id="7"/>
          <p:cNvSpPr txBox="true"/>
          <p:nvPr/>
        </p:nvSpPr>
        <p:spPr>
          <a:xfrm rot="0">
            <a:off x="12128904" y="4813745"/>
            <a:ext cx="6159096" cy="167061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3</a:t>
            </a:r>
            <a:r>
              <a:rPr lang="en-US" sz="2356">
                <a:solidFill>
                  <a:srgbClr val="000000"/>
                </a:solidFill>
                <a:latin typeface="Times New Roman"/>
                <a:ea typeface="Times New Roman"/>
                <a:cs typeface="Times New Roman"/>
                <a:sym typeface="Times New Roman"/>
              </a:rPr>
              <a:t>06 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Product master data</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Includes product name, category, sub-category, cost price, and selling price</a:t>
            </a:r>
          </a:p>
        </p:txBody>
      </p:sp>
      <p:sp>
        <p:nvSpPr>
          <p:cNvPr name="TextBox 8" id="8"/>
          <p:cNvSpPr txBox="true"/>
          <p:nvPr/>
        </p:nvSpPr>
        <p:spPr>
          <a:xfrm rot="0">
            <a:off x="12128904" y="7587690"/>
            <a:ext cx="6159096" cy="167061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2</a:t>
            </a:r>
            <a:r>
              <a:rPr lang="en-US" sz="2356">
                <a:solidFill>
                  <a:srgbClr val="000000"/>
                </a:solidFill>
                <a:latin typeface="Times New Roman"/>
                <a:ea typeface="Times New Roman"/>
                <a:cs typeface="Times New Roman"/>
                <a:sym typeface="Times New Roman"/>
              </a:rPr>
              <a:t>040 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Customer master data</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Includes customer ID, segment, and demographic attributes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5543" y="295281"/>
            <a:ext cx="11301259" cy="2853568"/>
          </a:xfrm>
          <a:custGeom>
            <a:avLst/>
            <a:gdLst/>
            <a:ahLst/>
            <a:cxnLst/>
            <a:rect r="r" b="b" t="t" l="l"/>
            <a:pathLst>
              <a:path h="2853568" w="11301259">
                <a:moveTo>
                  <a:pt x="0" y="0"/>
                </a:moveTo>
                <a:lnTo>
                  <a:pt x="11301259" y="0"/>
                </a:lnTo>
                <a:lnTo>
                  <a:pt x="11301259" y="2853568"/>
                </a:lnTo>
                <a:lnTo>
                  <a:pt x="0" y="2853568"/>
                </a:lnTo>
                <a:lnTo>
                  <a:pt x="0" y="0"/>
                </a:lnTo>
                <a:close/>
              </a:path>
            </a:pathLst>
          </a:custGeom>
          <a:blipFill>
            <a:blip r:embed="rId2"/>
            <a:stretch>
              <a:fillRect l="0" t="0" r="0" b="0"/>
            </a:stretch>
          </a:blipFill>
        </p:spPr>
      </p:sp>
      <p:sp>
        <p:nvSpPr>
          <p:cNvPr name="Freeform 3" id="3"/>
          <p:cNvSpPr/>
          <p:nvPr/>
        </p:nvSpPr>
        <p:spPr>
          <a:xfrm flipH="false" flipV="false" rot="0">
            <a:off x="12128904" y="569790"/>
            <a:ext cx="5800376" cy="4573710"/>
          </a:xfrm>
          <a:custGeom>
            <a:avLst/>
            <a:gdLst/>
            <a:ahLst/>
            <a:cxnLst/>
            <a:rect r="r" b="b" t="t" l="l"/>
            <a:pathLst>
              <a:path h="4573710" w="5800376">
                <a:moveTo>
                  <a:pt x="0" y="0"/>
                </a:moveTo>
                <a:lnTo>
                  <a:pt x="5800376" y="0"/>
                </a:lnTo>
                <a:lnTo>
                  <a:pt x="5800376" y="4573710"/>
                </a:lnTo>
                <a:lnTo>
                  <a:pt x="0" y="4573710"/>
                </a:lnTo>
                <a:lnTo>
                  <a:pt x="0" y="0"/>
                </a:lnTo>
                <a:close/>
              </a:path>
            </a:pathLst>
          </a:custGeom>
          <a:blipFill>
            <a:blip r:embed="rId3"/>
            <a:stretch>
              <a:fillRect l="0" t="0" r="0" b="0"/>
            </a:stretch>
          </a:blipFill>
        </p:spPr>
      </p:sp>
      <p:sp>
        <p:nvSpPr>
          <p:cNvPr name="Freeform 4" id="4"/>
          <p:cNvSpPr/>
          <p:nvPr/>
        </p:nvSpPr>
        <p:spPr>
          <a:xfrm flipH="false" flipV="false" rot="0">
            <a:off x="345543" y="4856384"/>
            <a:ext cx="11225004" cy="3804351"/>
          </a:xfrm>
          <a:custGeom>
            <a:avLst/>
            <a:gdLst/>
            <a:ahLst/>
            <a:cxnLst/>
            <a:rect r="r" b="b" t="t" l="l"/>
            <a:pathLst>
              <a:path h="3804351" w="11225004">
                <a:moveTo>
                  <a:pt x="0" y="0"/>
                </a:moveTo>
                <a:lnTo>
                  <a:pt x="11225004" y="0"/>
                </a:lnTo>
                <a:lnTo>
                  <a:pt x="11225004" y="3804351"/>
                </a:lnTo>
                <a:lnTo>
                  <a:pt x="0" y="3804351"/>
                </a:lnTo>
                <a:lnTo>
                  <a:pt x="0" y="0"/>
                </a:lnTo>
                <a:close/>
              </a:path>
            </a:pathLst>
          </a:custGeom>
          <a:blipFill>
            <a:blip r:embed="rId4"/>
            <a:stretch>
              <a:fillRect l="0" t="0" r="0" b="0"/>
            </a:stretch>
          </a:blipFill>
        </p:spPr>
      </p:sp>
      <p:sp>
        <p:nvSpPr>
          <p:cNvPr name="TextBox 5" id="5"/>
          <p:cNvSpPr txBox="true"/>
          <p:nvPr/>
        </p:nvSpPr>
        <p:spPr>
          <a:xfrm rot="0">
            <a:off x="11949543" y="5425441"/>
            <a:ext cx="6159096" cy="125228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48 </a:t>
            </a:r>
            <a:r>
              <a:rPr lang="en-US" sz="2356">
                <a:solidFill>
                  <a:srgbClr val="000000"/>
                </a:solidFill>
                <a:latin typeface="Times New Roman"/>
                <a:ea typeface="Times New Roman"/>
                <a:cs typeface="Times New Roman"/>
                <a:sym typeface="Times New Roman"/>
              </a:rPr>
              <a:t>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Sales targets defined by region and time period</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Used for target vs actual performance analysis</a:t>
            </a:r>
          </a:p>
        </p:txBody>
      </p:sp>
      <p:sp>
        <p:nvSpPr>
          <p:cNvPr name="TextBox 6" id="6"/>
          <p:cNvSpPr txBox="true"/>
          <p:nvPr/>
        </p:nvSpPr>
        <p:spPr>
          <a:xfrm rot="0">
            <a:off x="777666" y="8803610"/>
            <a:ext cx="6159096" cy="125228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8</a:t>
            </a:r>
            <a:r>
              <a:rPr lang="en-US" sz="2356">
                <a:solidFill>
                  <a:srgbClr val="000000"/>
                </a:solidFill>
                <a:latin typeface="Times New Roman"/>
                <a:ea typeface="Times New Roman"/>
                <a:cs typeface="Times New Roman"/>
                <a:sym typeface="Times New Roman"/>
              </a:rPr>
              <a:t>00 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Returned order records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Includes return reason and refund amount</a:t>
            </a:r>
          </a:p>
        </p:txBody>
      </p:sp>
      <p:sp>
        <p:nvSpPr>
          <p:cNvPr name="TextBox 7" id="7"/>
          <p:cNvSpPr txBox="true"/>
          <p:nvPr/>
        </p:nvSpPr>
        <p:spPr>
          <a:xfrm rot="0">
            <a:off x="777666" y="3404599"/>
            <a:ext cx="6159096" cy="1252280"/>
          </a:xfrm>
          <a:prstGeom prst="rect">
            <a:avLst/>
          </a:prstGeom>
        </p:spPr>
        <p:txBody>
          <a:bodyPr anchor="t" rtlCol="false" tIns="0" lIns="0" bIns="0" rIns="0">
            <a:spAutoFit/>
          </a:bodyPr>
          <a:lstStyle/>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50 rows</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Store and regional reference data</a:t>
            </a:r>
          </a:p>
          <a:p>
            <a:pPr algn="l" marL="508797" indent="-254399" lvl="1">
              <a:lnSpc>
                <a:spcPts val="3299"/>
              </a:lnSpc>
              <a:buFont typeface="Arial"/>
              <a:buChar char="•"/>
            </a:pPr>
            <a:r>
              <a:rPr lang="en-US" sz="2356">
                <a:solidFill>
                  <a:srgbClr val="000000"/>
                </a:solidFill>
                <a:latin typeface="Times New Roman"/>
                <a:ea typeface="Times New Roman"/>
                <a:cs typeface="Times New Roman"/>
                <a:sym typeface="Times New Roman"/>
              </a:rPr>
              <a:t>Maps stores to regions and locations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3294" y="1291231"/>
            <a:ext cx="21006441" cy="9088161"/>
            <a:chOff x="0" y="0"/>
            <a:chExt cx="5532561" cy="2393590"/>
          </a:xfrm>
        </p:grpSpPr>
        <p:sp>
          <p:nvSpPr>
            <p:cNvPr name="Freeform 3" id="3"/>
            <p:cNvSpPr/>
            <p:nvPr/>
          </p:nvSpPr>
          <p:spPr>
            <a:xfrm flipH="false" flipV="false" rot="0">
              <a:off x="0" y="0"/>
              <a:ext cx="5532560" cy="2393590"/>
            </a:xfrm>
            <a:custGeom>
              <a:avLst/>
              <a:gdLst/>
              <a:ahLst/>
              <a:cxnLst/>
              <a:rect r="r" b="b" t="t" l="l"/>
              <a:pathLst>
                <a:path h="2393590" w="5532560">
                  <a:moveTo>
                    <a:pt x="0" y="0"/>
                  </a:moveTo>
                  <a:lnTo>
                    <a:pt x="5532560" y="0"/>
                  </a:lnTo>
                  <a:lnTo>
                    <a:pt x="5532560" y="2393590"/>
                  </a:lnTo>
                  <a:lnTo>
                    <a:pt x="0" y="2393590"/>
                  </a:lnTo>
                  <a:close/>
                </a:path>
              </a:pathLst>
            </a:custGeom>
            <a:solidFill>
              <a:srgbClr val="EAEBE9"/>
            </a:solidFill>
          </p:spPr>
        </p:sp>
        <p:sp>
          <p:nvSpPr>
            <p:cNvPr name="TextBox 4" id="4"/>
            <p:cNvSpPr txBox="true"/>
            <p:nvPr/>
          </p:nvSpPr>
          <p:spPr>
            <a:xfrm>
              <a:off x="0" y="-57150"/>
              <a:ext cx="5532561" cy="2450740"/>
            </a:xfrm>
            <a:prstGeom prst="rect">
              <a:avLst/>
            </a:prstGeom>
          </p:spPr>
          <p:txBody>
            <a:bodyPr anchor="ctr" rtlCol="false" tIns="50800" lIns="50800" bIns="50800" rIns="50800"/>
            <a:lstStyle/>
            <a:p>
              <a:pPr algn="ctr">
                <a:lnSpc>
                  <a:spcPts val="3012"/>
                </a:lnSpc>
              </a:pPr>
            </a:p>
          </p:txBody>
        </p:sp>
      </p:grpSp>
      <p:graphicFrame>
        <p:nvGraphicFramePr>
          <p:cNvPr name="Table 5" id="5"/>
          <p:cNvGraphicFramePr>
            <a:graphicFrameLocks noGrp="true"/>
          </p:cNvGraphicFramePr>
          <p:nvPr/>
        </p:nvGraphicFramePr>
        <p:xfrm>
          <a:off x="2716576" y="1397277"/>
          <a:ext cx="13030154" cy="8763000"/>
        </p:xfrm>
        <a:graphic>
          <a:graphicData uri="http://schemas.openxmlformats.org/drawingml/2006/table">
            <a:tbl>
              <a:tblPr/>
              <a:tblGrid>
                <a:gridCol w="4528317"/>
                <a:gridCol w="8501837"/>
              </a:tblGrid>
              <a:tr h="927960">
                <a:tc>
                  <a:txBody>
                    <a:bodyPr anchor="t" rtlCol="false"/>
                    <a:lstStyle/>
                    <a:p>
                      <a:pPr algn="ctr">
                        <a:lnSpc>
                          <a:spcPts val="3499"/>
                        </a:lnSpc>
                        <a:defRPr/>
                      </a:pPr>
                      <a:r>
                        <a:rPr lang="en-US" sz="2499" b="true">
                          <a:solidFill>
                            <a:srgbClr val="000000"/>
                          </a:solidFill>
                          <a:latin typeface="Times New Roman Bold"/>
                          <a:ea typeface="Times New Roman Bold"/>
                          <a:cs typeface="Times New Roman Bold"/>
                          <a:sym typeface="Times New Roman Bold"/>
                        </a:rPr>
                        <a:t>Tool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Times New Roman Bold"/>
                          <a:ea typeface="Times New Roman Bold"/>
                          <a:cs typeface="Times New Roman Bold"/>
                          <a:sym typeface="Times New Roman Bold"/>
                        </a:rPr>
                        <a:t>Why used in this project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Python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to implement ETL logic and data transformations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Pandas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for initial data handling and preprocessing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Azure Databricks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for scalable Spark-based data processing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PySpark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to perform distributed data transformations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Spark SQL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for SQL-based analytics and table creation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Delta Tables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to provide reliable storage with ACID transactions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Apache Airflow</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to orchestrate and automate the ETL pipeline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Power BI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to visualize business KPIs and analytics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560">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GitHub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Times New Roman"/>
                          <a:ea typeface="Times New Roman"/>
                          <a:cs typeface="Times New Roman"/>
                          <a:sym typeface="Times New Roman"/>
                        </a:rPr>
                        <a:t>Used for version control and project collaboration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0" y="224431"/>
            <a:ext cx="12647557"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TECH STACK AND WHY?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59231" y="1485900"/>
            <a:ext cx="13169537" cy="8573308"/>
          </a:xfrm>
          <a:custGeom>
            <a:avLst/>
            <a:gdLst/>
            <a:ahLst/>
            <a:cxnLst/>
            <a:rect r="r" b="b" t="t" l="l"/>
            <a:pathLst>
              <a:path h="8573308" w="13169537">
                <a:moveTo>
                  <a:pt x="0" y="0"/>
                </a:moveTo>
                <a:lnTo>
                  <a:pt x="13169538" y="0"/>
                </a:lnTo>
                <a:lnTo>
                  <a:pt x="13169538" y="8573308"/>
                </a:lnTo>
                <a:lnTo>
                  <a:pt x="0" y="8573308"/>
                </a:lnTo>
                <a:lnTo>
                  <a:pt x="0" y="0"/>
                </a:lnTo>
                <a:close/>
              </a:path>
            </a:pathLst>
          </a:custGeom>
          <a:blipFill>
            <a:blip r:embed="rId2"/>
            <a:stretch>
              <a:fillRect l="0" t="-2651" r="-8838" b="-8737"/>
            </a:stretch>
          </a:blipFill>
        </p:spPr>
      </p:sp>
      <p:sp>
        <p:nvSpPr>
          <p:cNvPr name="TextBox 3" id="3"/>
          <p:cNvSpPr txBox="true"/>
          <p:nvPr/>
        </p:nvSpPr>
        <p:spPr>
          <a:xfrm rot="0">
            <a:off x="0" y="419100"/>
            <a:ext cx="13711364"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ARCHITECTURE OVERVIEW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7591"/>
            <a:ext cx="14052397" cy="1780909"/>
            <a:chOff x="0" y="0"/>
            <a:chExt cx="3701043" cy="469046"/>
          </a:xfrm>
        </p:grpSpPr>
        <p:sp>
          <p:nvSpPr>
            <p:cNvPr name="Freeform 3" id="3"/>
            <p:cNvSpPr/>
            <p:nvPr/>
          </p:nvSpPr>
          <p:spPr>
            <a:xfrm flipH="false" flipV="false" rot="0">
              <a:off x="0" y="0"/>
              <a:ext cx="3701043" cy="469046"/>
            </a:xfrm>
            <a:custGeom>
              <a:avLst/>
              <a:gdLst/>
              <a:ahLst/>
              <a:cxnLst/>
              <a:rect r="r" b="b" t="t" l="l"/>
              <a:pathLst>
                <a:path h="469046" w="3701043">
                  <a:moveTo>
                    <a:pt x="0" y="0"/>
                  </a:moveTo>
                  <a:lnTo>
                    <a:pt x="3701043" y="0"/>
                  </a:lnTo>
                  <a:lnTo>
                    <a:pt x="3701043" y="469046"/>
                  </a:lnTo>
                  <a:lnTo>
                    <a:pt x="0" y="469046"/>
                  </a:lnTo>
                  <a:close/>
                </a:path>
              </a:pathLst>
            </a:custGeom>
            <a:solidFill>
              <a:srgbClr val="EAEBE9"/>
            </a:solidFill>
          </p:spPr>
        </p:sp>
        <p:sp>
          <p:nvSpPr>
            <p:cNvPr name="TextBox 4" id="4"/>
            <p:cNvSpPr txBox="true"/>
            <p:nvPr/>
          </p:nvSpPr>
          <p:spPr>
            <a:xfrm>
              <a:off x="0" y="-57150"/>
              <a:ext cx="3701043" cy="526196"/>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15479920" y="83878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BE9"/>
            </a:solidFill>
          </p:spPr>
        </p:sp>
        <p:sp>
          <p:nvSpPr>
            <p:cNvPr name="TextBox 7" id="7"/>
            <p:cNvSpPr txBox="true"/>
            <p:nvPr/>
          </p:nvSpPr>
          <p:spPr>
            <a:xfrm>
              <a:off x="0" y="-57150"/>
              <a:ext cx="812800" cy="869950"/>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537845" y="285833"/>
            <a:ext cx="13514552"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MEDALLION ARCHITECTURE</a:t>
            </a:r>
          </a:p>
        </p:txBody>
      </p:sp>
      <p:sp>
        <p:nvSpPr>
          <p:cNvPr name="TextBox 9" id="9"/>
          <p:cNvSpPr txBox="true"/>
          <p:nvPr/>
        </p:nvSpPr>
        <p:spPr>
          <a:xfrm rot="0">
            <a:off x="778548" y="2273633"/>
            <a:ext cx="15653277" cy="4959350"/>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Medallion Architecture is a data design pattern used in modern data engineering to organize data into multiple layers based on data quality and processing stage.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Bronze Layer stores raw data ingested from source systems without modification</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Silver Layer contains cleaned, validated, and standardized data</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Gold Layer holds aggregated, business-ready datasets used for analytics and reporting</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This architecture improves data quality, scalability, maintainability, and enables clear separation between raw data processing and business analytics.</a:t>
            </a:r>
          </a:p>
        </p:txBody>
      </p:sp>
      <p:sp>
        <p:nvSpPr>
          <p:cNvPr name="Freeform 10" id="10"/>
          <p:cNvSpPr/>
          <p:nvPr/>
        </p:nvSpPr>
        <p:spPr>
          <a:xfrm flipH="false" flipV="false" rot="0">
            <a:off x="1644491" y="7792880"/>
            <a:ext cx="11301259" cy="1921214"/>
          </a:xfrm>
          <a:custGeom>
            <a:avLst/>
            <a:gdLst/>
            <a:ahLst/>
            <a:cxnLst/>
            <a:rect r="r" b="b" t="t" l="l"/>
            <a:pathLst>
              <a:path h="1921214" w="11301259">
                <a:moveTo>
                  <a:pt x="0" y="0"/>
                </a:moveTo>
                <a:lnTo>
                  <a:pt x="11301259" y="0"/>
                </a:lnTo>
                <a:lnTo>
                  <a:pt x="11301259" y="1921214"/>
                </a:lnTo>
                <a:lnTo>
                  <a:pt x="0" y="1921214"/>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534183" y="-514350"/>
            <a:ext cx="5385746" cy="2414210"/>
            <a:chOff x="0" y="0"/>
            <a:chExt cx="1418468" cy="635841"/>
          </a:xfrm>
        </p:grpSpPr>
        <p:sp>
          <p:nvSpPr>
            <p:cNvPr name="Freeform 3" id="3"/>
            <p:cNvSpPr/>
            <p:nvPr/>
          </p:nvSpPr>
          <p:spPr>
            <a:xfrm flipH="false" flipV="false" rot="0">
              <a:off x="0" y="0"/>
              <a:ext cx="1418468" cy="635841"/>
            </a:xfrm>
            <a:custGeom>
              <a:avLst/>
              <a:gdLst/>
              <a:ahLst/>
              <a:cxnLst/>
              <a:rect r="r" b="b" t="t" l="l"/>
              <a:pathLst>
                <a:path h="635841" w="1418468">
                  <a:moveTo>
                    <a:pt x="0" y="0"/>
                  </a:moveTo>
                  <a:lnTo>
                    <a:pt x="1418468" y="0"/>
                  </a:lnTo>
                  <a:lnTo>
                    <a:pt x="1418468" y="635841"/>
                  </a:lnTo>
                  <a:lnTo>
                    <a:pt x="0" y="635841"/>
                  </a:lnTo>
                  <a:close/>
                </a:path>
              </a:pathLst>
            </a:custGeom>
            <a:solidFill>
              <a:srgbClr val="EAEBE9"/>
            </a:solidFill>
          </p:spPr>
        </p:sp>
        <p:sp>
          <p:nvSpPr>
            <p:cNvPr name="TextBox 4" id="4"/>
            <p:cNvSpPr txBox="true"/>
            <p:nvPr/>
          </p:nvSpPr>
          <p:spPr>
            <a:xfrm>
              <a:off x="0" y="-57150"/>
              <a:ext cx="1418468" cy="692991"/>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283002" y="572452"/>
            <a:ext cx="8684183" cy="912495"/>
          </a:xfrm>
          <a:prstGeom prst="rect">
            <a:avLst/>
          </a:prstGeom>
        </p:spPr>
        <p:txBody>
          <a:bodyPr anchor="t" rtlCol="false" tIns="0" lIns="0" bIns="0" rIns="0">
            <a:spAutoFit/>
          </a:bodyPr>
          <a:lstStyle/>
          <a:p>
            <a:pPr algn="ctr" marL="0" indent="0" lvl="0">
              <a:lnSpc>
                <a:spcPts val="6839"/>
              </a:lnSpc>
            </a:pPr>
            <a:r>
              <a:rPr lang="en-US" b="true" sz="6000">
                <a:solidFill>
                  <a:srgbClr val="000000"/>
                </a:solidFill>
                <a:latin typeface="Times New Roman Bold"/>
                <a:ea typeface="Times New Roman Bold"/>
                <a:cs typeface="Times New Roman Bold"/>
                <a:sym typeface="Times New Roman Bold"/>
              </a:rPr>
              <a:t>DATABRICKS</a:t>
            </a:r>
          </a:p>
        </p:txBody>
      </p:sp>
      <p:sp>
        <p:nvSpPr>
          <p:cNvPr name="TextBox 6" id="6"/>
          <p:cNvSpPr txBox="true"/>
          <p:nvPr/>
        </p:nvSpPr>
        <p:spPr>
          <a:xfrm rot="0">
            <a:off x="1028700" y="1510000"/>
            <a:ext cx="14744962" cy="8674100"/>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Why Databricks</a:t>
            </a:r>
            <a:r>
              <a:rPr lang="en-US" sz="3500" b="true">
                <a:solidFill>
                  <a:srgbClr val="000000"/>
                </a:solidFill>
                <a:latin typeface="Times New Roman Bold"/>
                <a:ea typeface="Times New Roman Bold"/>
                <a:cs typeface="Times New Roman Bold"/>
                <a:sym typeface="Times New Roman Bold"/>
              </a:rPr>
              <a:t>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Retail datasets con</a:t>
            </a:r>
            <a:r>
              <a:rPr lang="en-US" sz="3500">
                <a:solidFill>
                  <a:srgbClr val="000000"/>
                </a:solidFill>
                <a:latin typeface="Times New Roman"/>
                <a:ea typeface="Times New Roman"/>
                <a:cs typeface="Times New Roman"/>
                <a:sym typeface="Times New Roman"/>
              </a:rPr>
              <a:t>tain large volumes of transactional data</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Databricks provides scalable processing using Apache Spark</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Supports the Medallion Architecture (Br</a:t>
            </a:r>
            <a:r>
              <a:rPr lang="en-US" sz="3500">
                <a:solidFill>
                  <a:srgbClr val="000000"/>
                </a:solidFill>
                <a:latin typeface="Times New Roman"/>
                <a:ea typeface="Times New Roman"/>
                <a:cs typeface="Times New Roman"/>
                <a:sym typeface="Times New Roman"/>
              </a:rPr>
              <a:t>onze, Silver, Gold)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E</a:t>
            </a:r>
            <a:r>
              <a:rPr lang="en-US" sz="3500">
                <a:solidFill>
                  <a:srgbClr val="000000"/>
                </a:solidFill>
                <a:latin typeface="Times New Roman"/>
                <a:ea typeface="Times New Roman"/>
                <a:cs typeface="Times New Roman"/>
                <a:sym typeface="Times New Roman"/>
              </a:rPr>
              <a:t>nables reliable data storage using Delta Lake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Suitable for real-world data engineering use cases</a:t>
            </a:r>
          </a:p>
          <a:p>
            <a:pPr algn="l">
              <a:lnSpc>
                <a:spcPts val="4900"/>
              </a:lnSpc>
            </a:pPr>
            <a:r>
              <a:rPr lang="en-US" sz="3500" b="true">
                <a:solidFill>
                  <a:srgbClr val="000000"/>
                </a:solidFill>
                <a:latin typeface="Times New Roman Bold"/>
                <a:ea typeface="Times New Roman Bold"/>
                <a:cs typeface="Times New Roman Bold"/>
                <a:sym typeface="Times New Roman Bold"/>
              </a:rPr>
              <a:t>How Databricks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Raw C</a:t>
            </a:r>
            <a:r>
              <a:rPr lang="en-US" sz="3500">
                <a:solidFill>
                  <a:srgbClr val="000000"/>
                </a:solidFill>
                <a:latin typeface="Times New Roman"/>
                <a:ea typeface="Times New Roman"/>
                <a:cs typeface="Times New Roman"/>
                <a:sym typeface="Times New Roman"/>
              </a:rPr>
              <a:t>SV files were ingested into the Bronze layer as Delta tables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Data cleaning, validation, and revenue calculation were performed in the Silver layer</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Business-level aggregations and KPIs were created in the Gold layer</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PySpark and Spark SQL were used for transformations and analytics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Gold tables were stored in the Databricks workspace for reporting</a:t>
            </a:r>
          </a:p>
          <a:p>
            <a:pPr algn="l" marL="0" indent="0" lvl="0">
              <a:lnSpc>
                <a:spcPts val="49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215713"/>
            <a:ext cx="9868010" cy="5792149"/>
            <a:chOff x="0" y="0"/>
            <a:chExt cx="2598982" cy="1525504"/>
          </a:xfrm>
        </p:grpSpPr>
        <p:sp>
          <p:nvSpPr>
            <p:cNvPr name="Freeform 3" id="3"/>
            <p:cNvSpPr/>
            <p:nvPr/>
          </p:nvSpPr>
          <p:spPr>
            <a:xfrm flipH="false" flipV="false" rot="0">
              <a:off x="0" y="0"/>
              <a:ext cx="2598982" cy="1525504"/>
            </a:xfrm>
            <a:custGeom>
              <a:avLst/>
              <a:gdLst/>
              <a:ahLst/>
              <a:cxnLst/>
              <a:rect r="r" b="b" t="t" l="l"/>
              <a:pathLst>
                <a:path h="1525504" w="2598982">
                  <a:moveTo>
                    <a:pt x="0" y="0"/>
                  </a:moveTo>
                  <a:lnTo>
                    <a:pt x="2598982" y="0"/>
                  </a:lnTo>
                  <a:lnTo>
                    <a:pt x="2598982" y="1525504"/>
                  </a:lnTo>
                  <a:lnTo>
                    <a:pt x="0" y="1525504"/>
                  </a:lnTo>
                  <a:close/>
                </a:path>
              </a:pathLst>
            </a:custGeom>
            <a:solidFill>
              <a:srgbClr val="EAEBE9"/>
            </a:solidFill>
          </p:spPr>
        </p:sp>
        <p:sp>
          <p:nvSpPr>
            <p:cNvPr name="TextBox 4" id="4"/>
            <p:cNvSpPr txBox="true"/>
            <p:nvPr/>
          </p:nvSpPr>
          <p:spPr>
            <a:xfrm>
              <a:off x="0" y="-57150"/>
              <a:ext cx="2598982" cy="1582654"/>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0225322" y="2215713"/>
            <a:ext cx="6566319" cy="5562214"/>
          </a:xfrm>
          <a:custGeom>
            <a:avLst/>
            <a:gdLst/>
            <a:ahLst/>
            <a:cxnLst/>
            <a:rect r="r" b="b" t="t" l="l"/>
            <a:pathLst>
              <a:path h="5562214" w="6566319">
                <a:moveTo>
                  <a:pt x="0" y="0"/>
                </a:moveTo>
                <a:lnTo>
                  <a:pt x="6566319" y="0"/>
                </a:lnTo>
                <a:lnTo>
                  <a:pt x="6566319" y="5562214"/>
                </a:lnTo>
                <a:lnTo>
                  <a:pt x="0" y="5562214"/>
                </a:lnTo>
                <a:lnTo>
                  <a:pt x="0" y="0"/>
                </a:lnTo>
                <a:close/>
              </a:path>
            </a:pathLst>
          </a:custGeom>
          <a:blipFill>
            <a:blip r:embed="rId2"/>
            <a:stretch>
              <a:fillRect l="0" t="0" r="0" b="0"/>
            </a:stretch>
          </a:blipFill>
        </p:spPr>
      </p:sp>
      <p:sp>
        <p:nvSpPr>
          <p:cNvPr name="Freeform 6" id="6"/>
          <p:cNvSpPr/>
          <p:nvPr/>
        </p:nvSpPr>
        <p:spPr>
          <a:xfrm flipH="false" flipV="false" rot="0">
            <a:off x="1760345" y="8219839"/>
            <a:ext cx="13401376" cy="1708675"/>
          </a:xfrm>
          <a:custGeom>
            <a:avLst/>
            <a:gdLst/>
            <a:ahLst/>
            <a:cxnLst/>
            <a:rect r="r" b="b" t="t" l="l"/>
            <a:pathLst>
              <a:path h="1708675" w="13401376">
                <a:moveTo>
                  <a:pt x="0" y="0"/>
                </a:moveTo>
                <a:lnTo>
                  <a:pt x="13401375" y="0"/>
                </a:lnTo>
                <a:lnTo>
                  <a:pt x="13401375" y="1708676"/>
                </a:lnTo>
                <a:lnTo>
                  <a:pt x="0" y="1708676"/>
                </a:lnTo>
                <a:lnTo>
                  <a:pt x="0" y="0"/>
                </a:lnTo>
                <a:close/>
              </a:path>
            </a:pathLst>
          </a:custGeom>
          <a:blipFill>
            <a:blip r:embed="rId3"/>
            <a:stretch>
              <a:fillRect l="0" t="0" r="0" b="0"/>
            </a:stretch>
          </a:blipFill>
        </p:spPr>
      </p:sp>
      <p:sp>
        <p:nvSpPr>
          <p:cNvPr name="TextBox 7" id="7"/>
          <p:cNvSpPr txBox="true"/>
          <p:nvPr/>
        </p:nvSpPr>
        <p:spPr>
          <a:xfrm rot="0">
            <a:off x="3126280" y="710763"/>
            <a:ext cx="12035441"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BRONZE LAYER</a:t>
            </a:r>
          </a:p>
        </p:txBody>
      </p:sp>
      <p:sp>
        <p:nvSpPr>
          <p:cNvPr name="TextBox 8" id="8"/>
          <p:cNvSpPr txBox="true"/>
          <p:nvPr/>
        </p:nvSpPr>
        <p:spPr>
          <a:xfrm rot="0">
            <a:off x="486741" y="2519777"/>
            <a:ext cx="9381269" cy="4959350"/>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Bronze Layer</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Reads raw CSV files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Stores data as Delta tables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No transformations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Adds ingestion metadata</a:t>
            </a:r>
          </a:p>
          <a:p>
            <a:pPr algn="l">
              <a:lnSpc>
                <a:spcPts val="4900"/>
              </a:lnSpc>
            </a:pPr>
            <a:r>
              <a:rPr lang="en-US" sz="3500" b="true">
                <a:solidFill>
                  <a:srgbClr val="000000"/>
                </a:solidFill>
                <a:latin typeface="Times New Roman Bold"/>
                <a:ea typeface="Times New Roman Bold"/>
                <a:cs typeface="Times New Roman Bold"/>
                <a:sym typeface="Times New Roman Bold"/>
              </a:rPr>
              <a:t>Goal:</a:t>
            </a:r>
          </a:p>
          <a:p>
            <a:pPr algn="l">
              <a:lnSpc>
                <a:spcPts val="4900"/>
              </a:lnSpc>
            </a:pPr>
            <a:r>
              <a:rPr lang="en-US" sz="3500">
                <a:solidFill>
                  <a:srgbClr val="000000"/>
                </a:solidFill>
                <a:latin typeface="Times New Roman"/>
                <a:ea typeface="Times New Roman"/>
                <a:cs typeface="Times New Roman"/>
                <a:sym typeface="Times New Roman"/>
              </a:rPr>
              <a:t> Pres</a:t>
            </a:r>
            <a:r>
              <a:rPr lang="en-US" sz="3500">
                <a:solidFill>
                  <a:srgbClr val="000000"/>
                </a:solidFill>
                <a:latin typeface="Times New Roman"/>
                <a:ea typeface="Times New Roman"/>
                <a:cs typeface="Times New Roman"/>
                <a:sym typeface="Times New Roman"/>
              </a:rPr>
              <a:t>erve original data for traceability.</a:t>
            </a:r>
          </a:p>
          <a:p>
            <a:pPr algn="l" marL="0" indent="0" lvl="0">
              <a:lnSpc>
                <a:spcPts val="49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215713"/>
            <a:ext cx="9868010" cy="5792149"/>
            <a:chOff x="0" y="0"/>
            <a:chExt cx="2598982" cy="1525504"/>
          </a:xfrm>
        </p:grpSpPr>
        <p:sp>
          <p:nvSpPr>
            <p:cNvPr name="Freeform 3" id="3"/>
            <p:cNvSpPr/>
            <p:nvPr/>
          </p:nvSpPr>
          <p:spPr>
            <a:xfrm flipH="false" flipV="false" rot="0">
              <a:off x="0" y="0"/>
              <a:ext cx="2598982" cy="1525504"/>
            </a:xfrm>
            <a:custGeom>
              <a:avLst/>
              <a:gdLst/>
              <a:ahLst/>
              <a:cxnLst/>
              <a:rect r="r" b="b" t="t" l="l"/>
              <a:pathLst>
                <a:path h="1525504" w="2598982">
                  <a:moveTo>
                    <a:pt x="0" y="0"/>
                  </a:moveTo>
                  <a:lnTo>
                    <a:pt x="2598982" y="0"/>
                  </a:lnTo>
                  <a:lnTo>
                    <a:pt x="2598982" y="1525504"/>
                  </a:lnTo>
                  <a:lnTo>
                    <a:pt x="0" y="1525504"/>
                  </a:lnTo>
                  <a:close/>
                </a:path>
              </a:pathLst>
            </a:custGeom>
            <a:solidFill>
              <a:srgbClr val="EAEBE9"/>
            </a:solidFill>
          </p:spPr>
        </p:sp>
        <p:sp>
          <p:nvSpPr>
            <p:cNvPr name="TextBox 4" id="4"/>
            <p:cNvSpPr txBox="true"/>
            <p:nvPr/>
          </p:nvSpPr>
          <p:spPr>
            <a:xfrm>
              <a:off x="0" y="-57150"/>
              <a:ext cx="2598982" cy="1582654"/>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0715164" y="1924509"/>
            <a:ext cx="6257388" cy="7771488"/>
          </a:xfrm>
          <a:custGeom>
            <a:avLst/>
            <a:gdLst/>
            <a:ahLst/>
            <a:cxnLst/>
            <a:rect r="r" b="b" t="t" l="l"/>
            <a:pathLst>
              <a:path h="7771488" w="6257388">
                <a:moveTo>
                  <a:pt x="0" y="0"/>
                </a:moveTo>
                <a:lnTo>
                  <a:pt x="6257388" y="0"/>
                </a:lnTo>
                <a:lnTo>
                  <a:pt x="6257388" y="7771488"/>
                </a:lnTo>
                <a:lnTo>
                  <a:pt x="0" y="7771488"/>
                </a:lnTo>
                <a:lnTo>
                  <a:pt x="0" y="0"/>
                </a:lnTo>
                <a:close/>
              </a:path>
            </a:pathLst>
          </a:custGeom>
          <a:blipFill>
            <a:blip r:embed="rId2"/>
            <a:stretch>
              <a:fillRect l="0" t="0" r="0" b="0"/>
            </a:stretch>
          </a:blipFill>
        </p:spPr>
      </p:sp>
      <p:sp>
        <p:nvSpPr>
          <p:cNvPr name="TextBox 6" id="6"/>
          <p:cNvSpPr txBox="true"/>
          <p:nvPr/>
        </p:nvSpPr>
        <p:spPr>
          <a:xfrm rot="0">
            <a:off x="3126280" y="419100"/>
            <a:ext cx="12035441"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SILVER LAYER</a:t>
            </a:r>
          </a:p>
        </p:txBody>
      </p:sp>
      <p:sp>
        <p:nvSpPr>
          <p:cNvPr name="TextBox 7" id="7"/>
          <p:cNvSpPr txBox="true"/>
          <p:nvPr/>
        </p:nvSpPr>
        <p:spPr>
          <a:xfrm rot="0">
            <a:off x="486741" y="2429388"/>
            <a:ext cx="9381269" cy="5578475"/>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D</a:t>
            </a:r>
            <a:r>
              <a:rPr lang="en-US" sz="3500" b="true">
                <a:solidFill>
                  <a:srgbClr val="000000"/>
                </a:solidFill>
                <a:latin typeface="Times New Roman Bold"/>
                <a:ea typeface="Times New Roman Bold"/>
                <a:cs typeface="Times New Roman Bold"/>
                <a:sym typeface="Times New Roman Bold"/>
              </a:rPr>
              <a:t>ata Cleaning &amp; Preprocessing</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Remove duplicate records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Handle missing values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Validate</a:t>
            </a:r>
            <a:r>
              <a:rPr lang="en-US" sz="3500">
                <a:solidFill>
                  <a:srgbClr val="000000"/>
                </a:solidFill>
                <a:latin typeface="Times New Roman"/>
                <a:ea typeface="Times New Roman"/>
                <a:cs typeface="Times New Roman"/>
                <a:sym typeface="Times New Roman"/>
              </a:rPr>
              <a:t> foreign keys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Filter invalid records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Standardize formats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C</a:t>
            </a:r>
            <a:r>
              <a:rPr lang="en-US" sz="3500">
                <a:solidFill>
                  <a:srgbClr val="000000"/>
                </a:solidFill>
                <a:latin typeface="Times New Roman"/>
                <a:ea typeface="Times New Roman"/>
                <a:cs typeface="Times New Roman"/>
                <a:sym typeface="Times New Roman"/>
              </a:rPr>
              <a:t>reate d</a:t>
            </a:r>
            <a:r>
              <a:rPr lang="en-US" sz="3500">
                <a:solidFill>
                  <a:srgbClr val="000000"/>
                </a:solidFill>
                <a:latin typeface="Times New Roman"/>
                <a:ea typeface="Times New Roman"/>
                <a:cs typeface="Times New Roman"/>
                <a:sym typeface="Times New Roman"/>
              </a:rPr>
              <a:t>erived metrics like Profit, Revenue</a:t>
            </a:r>
          </a:p>
          <a:p>
            <a:pPr algn="l">
              <a:lnSpc>
                <a:spcPts val="4900"/>
              </a:lnSpc>
            </a:pPr>
            <a:r>
              <a:rPr lang="en-US" sz="3500" b="true">
                <a:solidFill>
                  <a:srgbClr val="000000"/>
                </a:solidFill>
                <a:latin typeface="Times New Roman Bold"/>
                <a:ea typeface="Times New Roman Bold"/>
                <a:cs typeface="Times New Roman Bold"/>
                <a:sym typeface="Times New Roman Bold"/>
              </a:rPr>
              <a:t>Invalid data is stored separately, not deleted.</a:t>
            </a:r>
          </a:p>
          <a:p>
            <a:pPr algn="l" marL="0" indent="0" lvl="0">
              <a:lnSpc>
                <a:spcPts val="49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394640"/>
            <a:ext cx="18675157" cy="3090692"/>
            <a:chOff x="0" y="0"/>
            <a:chExt cx="24900209" cy="4120923"/>
          </a:xfrm>
        </p:grpSpPr>
        <p:sp>
          <p:nvSpPr>
            <p:cNvPr name="Freeform 3" id="3"/>
            <p:cNvSpPr/>
            <p:nvPr/>
          </p:nvSpPr>
          <p:spPr>
            <a:xfrm flipH="false" flipV="false" rot="0">
              <a:off x="0" y="0"/>
              <a:ext cx="12586401" cy="4120923"/>
            </a:xfrm>
            <a:custGeom>
              <a:avLst/>
              <a:gdLst/>
              <a:ahLst/>
              <a:cxnLst/>
              <a:rect r="r" b="b" t="t" l="l"/>
              <a:pathLst>
                <a:path h="4120923" w="12586401">
                  <a:moveTo>
                    <a:pt x="0" y="0"/>
                  </a:moveTo>
                  <a:lnTo>
                    <a:pt x="12586401" y="0"/>
                  </a:lnTo>
                  <a:lnTo>
                    <a:pt x="12586401" y="4120923"/>
                  </a:lnTo>
                  <a:lnTo>
                    <a:pt x="0" y="4120923"/>
                  </a:lnTo>
                  <a:lnTo>
                    <a:pt x="0" y="0"/>
                  </a:lnTo>
                  <a:close/>
                </a:path>
              </a:pathLst>
            </a:custGeom>
            <a:blipFill>
              <a:blip r:embed="rId2"/>
              <a:stretch>
                <a:fillRect l="0" t="0" r="0" b="-1423"/>
              </a:stretch>
            </a:blipFill>
          </p:spPr>
        </p:sp>
        <p:sp>
          <p:nvSpPr>
            <p:cNvPr name="Freeform 4" id="4"/>
            <p:cNvSpPr/>
            <p:nvPr/>
          </p:nvSpPr>
          <p:spPr>
            <a:xfrm flipH="false" flipV="false" rot="0">
              <a:off x="12476740" y="0"/>
              <a:ext cx="12423469" cy="4120923"/>
            </a:xfrm>
            <a:custGeom>
              <a:avLst/>
              <a:gdLst/>
              <a:ahLst/>
              <a:cxnLst/>
              <a:rect r="r" b="b" t="t" l="l"/>
              <a:pathLst>
                <a:path h="4120923" w="12423469">
                  <a:moveTo>
                    <a:pt x="0" y="0"/>
                  </a:moveTo>
                  <a:lnTo>
                    <a:pt x="12423469" y="0"/>
                  </a:lnTo>
                  <a:lnTo>
                    <a:pt x="12423469" y="4120923"/>
                  </a:lnTo>
                  <a:lnTo>
                    <a:pt x="0" y="4120923"/>
                  </a:lnTo>
                  <a:lnTo>
                    <a:pt x="0" y="0"/>
                  </a:lnTo>
                  <a:close/>
                </a:path>
              </a:pathLst>
            </a:custGeom>
            <a:blipFill>
              <a:blip r:embed="rId3"/>
              <a:stretch>
                <a:fillRect l="-447" t="0" r="0" b="-1455"/>
              </a:stretch>
            </a:blipFill>
          </p:spPr>
        </p:sp>
      </p:grpSp>
      <p:grpSp>
        <p:nvGrpSpPr>
          <p:cNvPr name="Group 5" id="5"/>
          <p:cNvGrpSpPr/>
          <p:nvPr/>
        </p:nvGrpSpPr>
        <p:grpSpPr>
          <a:xfrm rot="0">
            <a:off x="0" y="6471859"/>
            <a:ext cx="20570467" cy="3181621"/>
            <a:chOff x="0" y="0"/>
            <a:chExt cx="27427289" cy="4242162"/>
          </a:xfrm>
        </p:grpSpPr>
        <p:sp>
          <p:nvSpPr>
            <p:cNvPr name="Freeform 6" id="6"/>
            <p:cNvSpPr/>
            <p:nvPr/>
          </p:nvSpPr>
          <p:spPr>
            <a:xfrm flipH="false" flipV="false" rot="0">
              <a:off x="0" y="0"/>
              <a:ext cx="14727095" cy="4233379"/>
            </a:xfrm>
            <a:custGeom>
              <a:avLst/>
              <a:gdLst/>
              <a:ahLst/>
              <a:cxnLst/>
              <a:rect r="r" b="b" t="t" l="l"/>
              <a:pathLst>
                <a:path h="4233379" w="14727095">
                  <a:moveTo>
                    <a:pt x="0" y="0"/>
                  </a:moveTo>
                  <a:lnTo>
                    <a:pt x="14727095" y="0"/>
                  </a:lnTo>
                  <a:lnTo>
                    <a:pt x="14727095" y="4233379"/>
                  </a:lnTo>
                  <a:lnTo>
                    <a:pt x="0" y="4233379"/>
                  </a:lnTo>
                  <a:lnTo>
                    <a:pt x="0" y="0"/>
                  </a:lnTo>
                  <a:close/>
                </a:path>
              </a:pathLst>
            </a:custGeom>
            <a:blipFill>
              <a:blip r:embed="rId4"/>
              <a:stretch>
                <a:fillRect l="-813" t="-3334" r="0" b="0"/>
              </a:stretch>
            </a:blipFill>
          </p:spPr>
        </p:sp>
        <p:sp>
          <p:nvSpPr>
            <p:cNvPr name="Freeform 7" id="7"/>
            <p:cNvSpPr/>
            <p:nvPr/>
          </p:nvSpPr>
          <p:spPr>
            <a:xfrm flipH="false" flipV="false" rot="0">
              <a:off x="14667798" y="0"/>
              <a:ext cx="12759491" cy="4242162"/>
            </a:xfrm>
            <a:custGeom>
              <a:avLst/>
              <a:gdLst/>
              <a:ahLst/>
              <a:cxnLst/>
              <a:rect r="r" b="b" t="t" l="l"/>
              <a:pathLst>
                <a:path h="4242162" w="12759491">
                  <a:moveTo>
                    <a:pt x="0" y="0"/>
                  </a:moveTo>
                  <a:lnTo>
                    <a:pt x="12759491" y="0"/>
                  </a:lnTo>
                  <a:lnTo>
                    <a:pt x="12759491" y="4242162"/>
                  </a:lnTo>
                  <a:lnTo>
                    <a:pt x="0" y="4242162"/>
                  </a:lnTo>
                  <a:lnTo>
                    <a:pt x="0" y="0"/>
                  </a:lnTo>
                  <a:close/>
                </a:path>
              </a:pathLst>
            </a:custGeom>
            <a:blipFill>
              <a:blip r:embed="rId5"/>
              <a:stretch>
                <a:fillRect l="0" t="0" r="0" b="-706"/>
              </a:stretch>
            </a:blipFill>
          </p:spPr>
        </p:sp>
      </p:grpSp>
      <p:sp>
        <p:nvSpPr>
          <p:cNvPr name="TextBox 8" id="8"/>
          <p:cNvSpPr txBox="true"/>
          <p:nvPr/>
        </p:nvSpPr>
        <p:spPr>
          <a:xfrm rot="0">
            <a:off x="803470" y="338161"/>
            <a:ext cx="7886322" cy="1066800"/>
          </a:xfrm>
          <a:prstGeom prst="rect">
            <a:avLst/>
          </a:prstGeom>
        </p:spPr>
        <p:txBody>
          <a:bodyPr anchor="t" rtlCol="false" tIns="0" lIns="0" bIns="0" rIns="0">
            <a:spAutoFit/>
          </a:bodyPr>
          <a:lstStyle/>
          <a:p>
            <a:pPr algn="ctr">
              <a:lnSpc>
                <a:spcPts val="8400"/>
              </a:lnSpc>
              <a:spcBef>
                <a:spcPct val="0"/>
              </a:spcBef>
            </a:pPr>
            <a:r>
              <a:rPr lang="en-US" b="true" sz="6000">
                <a:solidFill>
                  <a:srgbClr val="000000"/>
                </a:solidFill>
                <a:latin typeface="Times New Roman Bold"/>
                <a:ea typeface="Times New Roman Bold"/>
                <a:cs typeface="Times New Roman Bold"/>
                <a:sym typeface="Times New Roman Bold"/>
              </a:rPr>
              <a:t>INVALID RECORDS</a:t>
            </a:r>
          </a:p>
        </p:txBody>
      </p:sp>
      <p:sp>
        <p:nvSpPr>
          <p:cNvPr name="TextBox 9" id="9"/>
          <p:cNvSpPr txBox="true"/>
          <p:nvPr/>
        </p:nvSpPr>
        <p:spPr>
          <a:xfrm rot="0">
            <a:off x="211395" y="1624036"/>
            <a:ext cx="3432572" cy="625475"/>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Times New Roman Bold"/>
                <a:ea typeface="Times New Roman Bold"/>
                <a:cs typeface="Times New Roman Bold"/>
                <a:sym typeface="Times New Roman Bold"/>
              </a:rPr>
              <a:t>sales_transactions</a:t>
            </a:r>
          </a:p>
        </p:txBody>
      </p:sp>
      <p:sp>
        <p:nvSpPr>
          <p:cNvPr name="TextBox 10" id="10"/>
          <p:cNvSpPr txBox="true"/>
          <p:nvPr/>
        </p:nvSpPr>
        <p:spPr>
          <a:xfrm rot="0">
            <a:off x="311309" y="5704407"/>
            <a:ext cx="1925638" cy="625475"/>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Times New Roman Bold"/>
                <a:ea typeface="Times New Roman Bold"/>
                <a:cs typeface="Times New Roman Bold"/>
                <a:sym typeface="Times New Roman Bold"/>
              </a:rPr>
              <a:t>customers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215713"/>
            <a:ext cx="9868010" cy="7318576"/>
            <a:chOff x="0" y="0"/>
            <a:chExt cx="2598982" cy="1927526"/>
          </a:xfrm>
        </p:grpSpPr>
        <p:sp>
          <p:nvSpPr>
            <p:cNvPr name="Freeform 3" id="3"/>
            <p:cNvSpPr/>
            <p:nvPr/>
          </p:nvSpPr>
          <p:spPr>
            <a:xfrm flipH="false" flipV="false" rot="0">
              <a:off x="0" y="0"/>
              <a:ext cx="2598982" cy="1927526"/>
            </a:xfrm>
            <a:custGeom>
              <a:avLst/>
              <a:gdLst/>
              <a:ahLst/>
              <a:cxnLst/>
              <a:rect r="r" b="b" t="t" l="l"/>
              <a:pathLst>
                <a:path h="1927526" w="2598982">
                  <a:moveTo>
                    <a:pt x="0" y="0"/>
                  </a:moveTo>
                  <a:lnTo>
                    <a:pt x="2598982" y="0"/>
                  </a:lnTo>
                  <a:lnTo>
                    <a:pt x="2598982" y="1927526"/>
                  </a:lnTo>
                  <a:lnTo>
                    <a:pt x="0" y="1927526"/>
                  </a:lnTo>
                  <a:close/>
                </a:path>
              </a:pathLst>
            </a:custGeom>
            <a:solidFill>
              <a:srgbClr val="EAEBE9"/>
            </a:solidFill>
          </p:spPr>
        </p:sp>
        <p:sp>
          <p:nvSpPr>
            <p:cNvPr name="TextBox 4" id="4"/>
            <p:cNvSpPr txBox="true"/>
            <p:nvPr/>
          </p:nvSpPr>
          <p:spPr>
            <a:xfrm>
              <a:off x="0" y="-57150"/>
              <a:ext cx="2598982" cy="1984676"/>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6468377" y="6334934"/>
            <a:ext cx="11301259" cy="3701162"/>
          </a:xfrm>
          <a:custGeom>
            <a:avLst/>
            <a:gdLst/>
            <a:ahLst/>
            <a:cxnLst/>
            <a:rect r="r" b="b" t="t" l="l"/>
            <a:pathLst>
              <a:path h="3701162" w="11301259">
                <a:moveTo>
                  <a:pt x="0" y="0"/>
                </a:moveTo>
                <a:lnTo>
                  <a:pt x="11301259" y="0"/>
                </a:lnTo>
                <a:lnTo>
                  <a:pt x="11301259" y="3701162"/>
                </a:lnTo>
                <a:lnTo>
                  <a:pt x="0" y="3701162"/>
                </a:lnTo>
                <a:lnTo>
                  <a:pt x="0" y="0"/>
                </a:lnTo>
                <a:close/>
              </a:path>
            </a:pathLst>
          </a:custGeom>
          <a:blipFill>
            <a:blip r:embed="rId2"/>
            <a:stretch>
              <a:fillRect l="0" t="0" r="0" b="0"/>
            </a:stretch>
          </a:blipFill>
        </p:spPr>
      </p:sp>
      <p:sp>
        <p:nvSpPr>
          <p:cNvPr name="Freeform 6" id="6"/>
          <p:cNvSpPr/>
          <p:nvPr/>
        </p:nvSpPr>
        <p:spPr>
          <a:xfrm flipH="false" flipV="false" rot="0">
            <a:off x="10575531" y="1511526"/>
            <a:ext cx="6188776" cy="4732018"/>
          </a:xfrm>
          <a:custGeom>
            <a:avLst/>
            <a:gdLst/>
            <a:ahLst/>
            <a:cxnLst/>
            <a:rect r="r" b="b" t="t" l="l"/>
            <a:pathLst>
              <a:path h="4732018" w="6188776">
                <a:moveTo>
                  <a:pt x="0" y="0"/>
                </a:moveTo>
                <a:lnTo>
                  <a:pt x="6188776" y="0"/>
                </a:lnTo>
                <a:lnTo>
                  <a:pt x="6188776" y="4732018"/>
                </a:lnTo>
                <a:lnTo>
                  <a:pt x="0" y="4732018"/>
                </a:lnTo>
                <a:lnTo>
                  <a:pt x="0" y="0"/>
                </a:lnTo>
                <a:close/>
              </a:path>
            </a:pathLst>
          </a:custGeom>
          <a:blipFill>
            <a:blip r:embed="rId3"/>
            <a:stretch>
              <a:fillRect l="0" t="0" r="0" b="0"/>
            </a:stretch>
          </a:blipFill>
        </p:spPr>
      </p:sp>
      <p:sp>
        <p:nvSpPr>
          <p:cNvPr name="TextBox 7" id="7"/>
          <p:cNvSpPr txBox="true"/>
          <p:nvPr/>
        </p:nvSpPr>
        <p:spPr>
          <a:xfrm rot="0">
            <a:off x="3126280" y="190777"/>
            <a:ext cx="12035441" cy="10668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GOLD LAYER</a:t>
            </a:r>
          </a:p>
        </p:txBody>
      </p:sp>
      <p:sp>
        <p:nvSpPr>
          <p:cNvPr name="TextBox 8" id="8"/>
          <p:cNvSpPr txBox="true"/>
          <p:nvPr/>
        </p:nvSpPr>
        <p:spPr>
          <a:xfrm rot="0">
            <a:off x="486741" y="2304465"/>
            <a:ext cx="9381269" cy="6816725"/>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Gold Layer</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Business-ready datasets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Aggregations and KPIs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Joins across </a:t>
            </a:r>
            <a:r>
              <a:rPr lang="en-US" sz="3500">
                <a:solidFill>
                  <a:srgbClr val="000000"/>
                </a:solidFill>
                <a:latin typeface="Times New Roman"/>
                <a:ea typeface="Times New Roman"/>
                <a:cs typeface="Times New Roman"/>
                <a:sym typeface="Times New Roman"/>
              </a:rPr>
              <a:t>d</a:t>
            </a:r>
            <a:r>
              <a:rPr lang="en-US" sz="3500">
                <a:solidFill>
                  <a:srgbClr val="000000"/>
                </a:solidFill>
                <a:latin typeface="Times New Roman"/>
                <a:ea typeface="Times New Roman"/>
                <a:cs typeface="Times New Roman"/>
                <a:sym typeface="Times New Roman"/>
              </a:rPr>
              <a:t>omains</a:t>
            </a:r>
          </a:p>
          <a:p>
            <a:pPr algn="l">
              <a:lnSpc>
                <a:spcPts val="4900"/>
              </a:lnSpc>
            </a:pPr>
            <a:r>
              <a:rPr lang="en-US" sz="3500" b="true">
                <a:solidFill>
                  <a:srgbClr val="000000"/>
                </a:solidFill>
                <a:latin typeface="Times New Roman Bold"/>
                <a:ea typeface="Times New Roman Bold"/>
                <a:cs typeface="Times New Roman Bold"/>
                <a:sym typeface="Times New Roman Bold"/>
              </a:rPr>
              <a:t>Go</a:t>
            </a:r>
            <a:r>
              <a:rPr lang="en-US" sz="3500" b="true">
                <a:solidFill>
                  <a:srgbClr val="000000"/>
                </a:solidFill>
                <a:latin typeface="Times New Roman Bold"/>
                <a:ea typeface="Times New Roman Bold"/>
                <a:cs typeface="Times New Roman Bold"/>
                <a:sym typeface="Times New Roman Bold"/>
              </a:rPr>
              <a:t>ld Tables Created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Sales Performance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P</a:t>
            </a:r>
            <a:r>
              <a:rPr lang="en-US" sz="3500">
                <a:solidFill>
                  <a:srgbClr val="000000"/>
                </a:solidFill>
                <a:latin typeface="Times New Roman"/>
                <a:ea typeface="Times New Roman"/>
                <a:cs typeface="Times New Roman"/>
                <a:sym typeface="Times New Roman"/>
              </a:rPr>
              <a:t>roduct P</a:t>
            </a:r>
            <a:r>
              <a:rPr lang="en-US" sz="3500">
                <a:solidFill>
                  <a:srgbClr val="000000"/>
                </a:solidFill>
                <a:latin typeface="Times New Roman"/>
                <a:ea typeface="Times New Roman"/>
                <a:cs typeface="Times New Roman"/>
                <a:sym typeface="Times New Roman"/>
              </a:rPr>
              <a:t>erformance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Regional Performance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Customer Analytics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Target vs Actual Analysis</a:t>
            </a:r>
          </a:p>
          <a:p>
            <a:pPr algn="l" marL="0" indent="0" lvl="0">
              <a:lnSpc>
                <a:spcPts val="4900"/>
              </a:lnSpc>
              <a:spcBef>
                <a:spcPct val="0"/>
              </a:spcBef>
            </a:pPr>
          </a:p>
        </p:txBody>
      </p:sp>
      <p:sp>
        <p:nvSpPr>
          <p:cNvPr name="TextBox 9" id="9"/>
          <p:cNvSpPr txBox="true"/>
          <p:nvPr/>
        </p:nvSpPr>
        <p:spPr>
          <a:xfrm rot="0">
            <a:off x="3162687" y="1324887"/>
            <a:ext cx="3333750" cy="625475"/>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Times New Roman Bold"/>
                <a:ea typeface="Times New Roman Bold"/>
                <a:cs typeface="Times New Roman Bold"/>
                <a:sym typeface="Times New Roman Bold"/>
              </a:rPr>
              <a:t>Analytics &amp; KPIs</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41361" y="-2496160"/>
            <a:ext cx="15656483" cy="1565648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BE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1560875" y="2477554"/>
            <a:ext cx="13832605" cy="7435850"/>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Why Apache Airflow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ETL pipelines require controlled execution order</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Manual execution is error-prone and not scalable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Airflow provides workflow orchestration and automation</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Supports retries, monitoring, and logging</a:t>
            </a:r>
          </a:p>
          <a:p>
            <a:pPr algn="l">
              <a:lnSpc>
                <a:spcPts val="4900"/>
              </a:lnSpc>
            </a:pPr>
            <a:r>
              <a:rPr lang="en-US" sz="3500" b="true">
                <a:solidFill>
                  <a:srgbClr val="000000"/>
                </a:solidFill>
                <a:latin typeface="Times New Roman Bold"/>
                <a:ea typeface="Times New Roman Bold"/>
                <a:cs typeface="Times New Roman Bold"/>
                <a:sym typeface="Times New Roman Bold"/>
              </a:rPr>
              <a:t>How Apache Airflow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An Airflow DAG was created to orchestrate the ETL pipeline</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Tasks were defined for Bronze, Silver, and Gold layers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Task dependencies enforced the order: Bronze → Silver → Gold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Retry logic handled temporary failures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Execution logs were monitored through the Airflow UI</a:t>
            </a:r>
          </a:p>
          <a:p>
            <a:pPr algn="l" marL="0" indent="0" lvl="0">
              <a:lnSpc>
                <a:spcPts val="4900"/>
              </a:lnSpc>
              <a:spcBef>
                <a:spcPct val="0"/>
              </a:spcBef>
            </a:pPr>
          </a:p>
        </p:txBody>
      </p:sp>
      <p:sp>
        <p:nvSpPr>
          <p:cNvPr name="TextBox 6" id="6"/>
          <p:cNvSpPr txBox="true"/>
          <p:nvPr/>
        </p:nvSpPr>
        <p:spPr>
          <a:xfrm rot="0">
            <a:off x="1028700" y="639970"/>
            <a:ext cx="15749066" cy="10668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APACHE AIRFLOW</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4625" y="2192606"/>
            <a:ext cx="11227926" cy="3505585"/>
            <a:chOff x="0" y="0"/>
            <a:chExt cx="2957149" cy="923282"/>
          </a:xfrm>
        </p:grpSpPr>
        <p:sp>
          <p:nvSpPr>
            <p:cNvPr name="Freeform 3" id="3"/>
            <p:cNvSpPr/>
            <p:nvPr/>
          </p:nvSpPr>
          <p:spPr>
            <a:xfrm flipH="false" flipV="false" rot="0">
              <a:off x="0" y="0"/>
              <a:ext cx="2957149" cy="923282"/>
            </a:xfrm>
            <a:custGeom>
              <a:avLst/>
              <a:gdLst/>
              <a:ahLst/>
              <a:cxnLst/>
              <a:rect r="r" b="b" t="t" l="l"/>
              <a:pathLst>
                <a:path h="923282" w="2957149">
                  <a:moveTo>
                    <a:pt x="0" y="0"/>
                  </a:moveTo>
                  <a:lnTo>
                    <a:pt x="2957149" y="0"/>
                  </a:lnTo>
                  <a:lnTo>
                    <a:pt x="2957149" y="923282"/>
                  </a:lnTo>
                  <a:lnTo>
                    <a:pt x="0" y="923282"/>
                  </a:lnTo>
                  <a:close/>
                </a:path>
              </a:pathLst>
            </a:custGeom>
            <a:solidFill>
              <a:srgbClr val="EAEBE9"/>
            </a:solidFill>
          </p:spPr>
        </p:sp>
        <p:sp>
          <p:nvSpPr>
            <p:cNvPr name="TextBox 4" id="4"/>
            <p:cNvSpPr txBox="true"/>
            <p:nvPr/>
          </p:nvSpPr>
          <p:spPr>
            <a:xfrm>
              <a:off x="0" y="-66675"/>
              <a:ext cx="2957149" cy="989957"/>
            </a:xfrm>
            <a:prstGeom prst="rect">
              <a:avLst/>
            </a:prstGeom>
          </p:spPr>
          <p:txBody>
            <a:bodyPr anchor="ctr" rtlCol="false" tIns="50800" lIns="50800" bIns="50800" rIns="50800"/>
            <a:lstStyle/>
            <a:p>
              <a:pPr algn="ctr">
                <a:lnSpc>
                  <a:spcPts val="3665"/>
                </a:lnSpc>
              </a:pPr>
            </a:p>
          </p:txBody>
        </p:sp>
      </p:grpSp>
      <p:sp>
        <p:nvSpPr>
          <p:cNvPr name="Freeform 5" id="5"/>
          <p:cNvSpPr/>
          <p:nvPr/>
        </p:nvSpPr>
        <p:spPr>
          <a:xfrm flipH="false" flipV="false" rot="0">
            <a:off x="11246256" y="2447963"/>
            <a:ext cx="5654881" cy="3326401"/>
          </a:xfrm>
          <a:custGeom>
            <a:avLst/>
            <a:gdLst/>
            <a:ahLst/>
            <a:cxnLst/>
            <a:rect r="r" b="b" t="t" l="l"/>
            <a:pathLst>
              <a:path h="3326401" w="5654881">
                <a:moveTo>
                  <a:pt x="0" y="0"/>
                </a:moveTo>
                <a:lnTo>
                  <a:pt x="5654881" y="0"/>
                </a:lnTo>
                <a:lnTo>
                  <a:pt x="5654881" y="3326400"/>
                </a:lnTo>
                <a:lnTo>
                  <a:pt x="0" y="3326400"/>
                </a:lnTo>
                <a:lnTo>
                  <a:pt x="0" y="0"/>
                </a:lnTo>
                <a:close/>
              </a:path>
            </a:pathLst>
          </a:custGeom>
          <a:blipFill>
            <a:blip r:embed="rId2"/>
            <a:stretch>
              <a:fillRect l="-18174" t="-55482" r="-190938" b="-70479"/>
            </a:stretch>
          </a:blipFill>
        </p:spPr>
      </p:sp>
      <p:sp>
        <p:nvSpPr>
          <p:cNvPr name="Freeform 6" id="6"/>
          <p:cNvSpPr/>
          <p:nvPr/>
        </p:nvSpPr>
        <p:spPr>
          <a:xfrm flipH="false" flipV="false" rot="0">
            <a:off x="2018094" y="6073698"/>
            <a:ext cx="14251812" cy="3803088"/>
          </a:xfrm>
          <a:custGeom>
            <a:avLst/>
            <a:gdLst/>
            <a:ahLst/>
            <a:cxnLst/>
            <a:rect r="r" b="b" t="t" l="l"/>
            <a:pathLst>
              <a:path h="3803088" w="14251812">
                <a:moveTo>
                  <a:pt x="0" y="0"/>
                </a:moveTo>
                <a:lnTo>
                  <a:pt x="14251812" y="0"/>
                </a:lnTo>
                <a:lnTo>
                  <a:pt x="14251812" y="3803088"/>
                </a:lnTo>
                <a:lnTo>
                  <a:pt x="0" y="3803088"/>
                </a:lnTo>
                <a:lnTo>
                  <a:pt x="0" y="0"/>
                </a:lnTo>
                <a:close/>
              </a:path>
            </a:pathLst>
          </a:custGeom>
          <a:blipFill>
            <a:blip r:embed="rId3"/>
            <a:stretch>
              <a:fillRect l="0" t="-8620" r="0" b="-8620"/>
            </a:stretch>
          </a:blipFill>
        </p:spPr>
      </p:sp>
      <p:sp>
        <p:nvSpPr>
          <p:cNvPr name="TextBox 7" id="7"/>
          <p:cNvSpPr txBox="true"/>
          <p:nvPr/>
        </p:nvSpPr>
        <p:spPr>
          <a:xfrm rot="0">
            <a:off x="2990206" y="741250"/>
            <a:ext cx="11837212" cy="984885"/>
          </a:xfrm>
          <a:prstGeom prst="rect">
            <a:avLst/>
          </a:prstGeom>
        </p:spPr>
        <p:txBody>
          <a:bodyPr anchor="t" rtlCol="false" tIns="0" lIns="0" bIns="0" rIns="0">
            <a:spAutoFit/>
          </a:bodyPr>
          <a:lstStyle/>
          <a:p>
            <a:pPr algn="l" marL="0" indent="0" lvl="0">
              <a:lnSpc>
                <a:spcPts val="7620"/>
              </a:lnSpc>
            </a:pPr>
            <a:r>
              <a:rPr lang="en-US" b="true" sz="6000">
                <a:solidFill>
                  <a:srgbClr val="000000"/>
                </a:solidFill>
                <a:latin typeface="Times New Roman Bold"/>
                <a:ea typeface="Times New Roman Bold"/>
                <a:cs typeface="Times New Roman Bold"/>
                <a:sym typeface="Times New Roman Bold"/>
              </a:rPr>
              <a:t>APACHE AIRFLOW</a:t>
            </a:r>
          </a:p>
        </p:txBody>
      </p:sp>
      <p:sp>
        <p:nvSpPr>
          <p:cNvPr name="TextBox 8" id="8"/>
          <p:cNvSpPr txBox="true"/>
          <p:nvPr/>
        </p:nvSpPr>
        <p:spPr>
          <a:xfrm rot="0">
            <a:off x="169865" y="2147108"/>
            <a:ext cx="8738947" cy="3721100"/>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A</a:t>
            </a:r>
            <a:r>
              <a:rPr lang="en-US" sz="3500" b="true">
                <a:solidFill>
                  <a:srgbClr val="000000"/>
                </a:solidFill>
                <a:latin typeface="Times New Roman Bold"/>
                <a:ea typeface="Times New Roman Bold"/>
                <a:cs typeface="Times New Roman Bold"/>
                <a:sym typeface="Times New Roman Bold"/>
              </a:rPr>
              <a:t>irflow Implementation</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Orchestrates Bronze → Silver → Gold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Enforces task dependencies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Retry logic for failures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Execution logging</a:t>
            </a:r>
          </a:p>
          <a:p>
            <a:pPr algn="l" marL="0" indent="0" lvl="0">
              <a:lnSpc>
                <a:spcPts val="49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27591"/>
            <a:ext cx="14052397" cy="1780909"/>
            <a:chOff x="0" y="0"/>
            <a:chExt cx="3701043" cy="469046"/>
          </a:xfrm>
        </p:grpSpPr>
        <p:sp>
          <p:nvSpPr>
            <p:cNvPr name="Freeform 3" id="3"/>
            <p:cNvSpPr/>
            <p:nvPr/>
          </p:nvSpPr>
          <p:spPr>
            <a:xfrm flipH="false" flipV="false" rot="0">
              <a:off x="0" y="0"/>
              <a:ext cx="3701043" cy="469046"/>
            </a:xfrm>
            <a:custGeom>
              <a:avLst/>
              <a:gdLst/>
              <a:ahLst/>
              <a:cxnLst/>
              <a:rect r="r" b="b" t="t" l="l"/>
              <a:pathLst>
                <a:path h="469046" w="3701043">
                  <a:moveTo>
                    <a:pt x="0" y="0"/>
                  </a:moveTo>
                  <a:lnTo>
                    <a:pt x="3701043" y="0"/>
                  </a:lnTo>
                  <a:lnTo>
                    <a:pt x="3701043" y="469046"/>
                  </a:lnTo>
                  <a:lnTo>
                    <a:pt x="0" y="469046"/>
                  </a:lnTo>
                  <a:close/>
                </a:path>
              </a:pathLst>
            </a:custGeom>
            <a:solidFill>
              <a:srgbClr val="EAEBE9"/>
            </a:solidFill>
          </p:spPr>
        </p:sp>
        <p:sp>
          <p:nvSpPr>
            <p:cNvPr name="TextBox 4" id="4"/>
            <p:cNvSpPr txBox="true"/>
            <p:nvPr/>
          </p:nvSpPr>
          <p:spPr>
            <a:xfrm>
              <a:off x="0" y="-57150"/>
              <a:ext cx="3701043" cy="526196"/>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15479920" y="83878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BE9"/>
            </a:solidFill>
          </p:spPr>
        </p:sp>
        <p:sp>
          <p:nvSpPr>
            <p:cNvPr name="TextBox 7" id="7"/>
            <p:cNvSpPr txBox="true"/>
            <p:nvPr/>
          </p:nvSpPr>
          <p:spPr>
            <a:xfrm>
              <a:off x="0" y="-57150"/>
              <a:ext cx="812800" cy="869950"/>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537845" y="276308"/>
            <a:ext cx="13514552" cy="1222375"/>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Times New Roman Bold"/>
                <a:ea typeface="Times New Roman Bold"/>
                <a:cs typeface="Times New Roman Bold"/>
                <a:sym typeface="Times New Roman Bold"/>
              </a:rPr>
              <a:t>POWER BI OVERVIEW</a:t>
            </a:r>
          </a:p>
        </p:txBody>
      </p:sp>
      <p:sp>
        <p:nvSpPr>
          <p:cNvPr name="TextBox 9" id="9"/>
          <p:cNvSpPr txBox="true"/>
          <p:nvPr/>
        </p:nvSpPr>
        <p:spPr>
          <a:xfrm rot="0">
            <a:off x="1028700" y="1713250"/>
            <a:ext cx="15653277" cy="8674100"/>
          </a:xfrm>
          <a:prstGeom prst="rect">
            <a:avLst/>
          </a:prstGeom>
        </p:spPr>
        <p:txBody>
          <a:bodyPr anchor="t" rtlCol="false" tIns="0" lIns="0" bIns="0" rIns="0">
            <a:spAutoFit/>
          </a:bodyPr>
          <a:lstStyle/>
          <a:p>
            <a:pPr algn="l">
              <a:lnSpc>
                <a:spcPts val="4900"/>
              </a:lnSpc>
            </a:pPr>
            <a:r>
              <a:rPr lang="en-US" sz="3500" b="true">
                <a:solidFill>
                  <a:srgbClr val="000000"/>
                </a:solidFill>
                <a:latin typeface="Times New Roman Bold"/>
                <a:ea typeface="Times New Roman Bold"/>
                <a:cs typeface="Times New Roman Bold"/>
                <a:sym typeface="Times New Roman Bold"/>
              </a:rPr>
              <a:t>Why Power BI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Business stakeholders require visual insights, not raw data</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Power BI supports interactive and user-friendly dashboards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Integrates well with structured analytics datasets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Widely used in industry for business reporting</a:t>
            </a:r>
          </a:p>
          <a:p>
            <a:pPr algn="l">
              <a:lnSpc>
                <a:spcPts val="4900"/>
              </a:lnSpc>
            </a:pPr>
            <a:r>
              <a:rPr lang="en-US" sz="3500" b="true">
                <a:solidFill>
                  <a:srgbClr val="000000"/>
                </a:solidFill>
                <a:latin typeface="Times New Roman Bold"/>
                <a:ea typeface="Times New Roman Bold"/>
                <a:cs typeface="Times New Roman Bold"/>
                <a:sym typeface="Times New Roman Bold"/>
              </a:rPr>
              <a:t>How Power BI Was Used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Power BI was connected to Gold-layer tables from Databricks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Three dashboards were created:</a:t>
            </a:r>
          </a:p>
          <a:p>
            <a:pPr algn="l" marL="1511301" indent="-503767" lvl="2">
              <a:lnSpc>
                <a:spcPts val="4900"/>
              </a:lnSpc>
              <a:buFont typeface="Arial"/>
              <a:buChar char="⚬"/>
            </a:pPr>
            <a:r>
              <a:rPr lang="en-US" sz="3500">
                <a:solidFill>
                  <a:srgbClr val="000000"/>
                </a:solidFill>
                <a:latin typeface="Times New Roman"/>
                <a:ea typeface="Times New Roman"/>
                <a:cs typeface="Times New Roman"/>
                <a:sym typeface="Times New Roman"/>
              </a:rPr>
              <a:t>Executive Sales Overview</a:t>
            </a:r>
          </a:p>
          <a:p>
            <a:pPr algn="l" marL="1511301" indent="-503767" lvl="2">
              <a:lnSpc>
                <a:spcPts val="4900"/>
              </a:lnSpc>
              <a:buFont typeface="Arial"/>
              <a:buChar char="⚬"/>
            </a:pPr>
            <a:r>
              <a:rPr lang="en-US" sz="3500">
                <a:solidFill>
                  <a:srgbClr val="000000"/>
                </a:solidFill>
                <a:latin typeface="Times New Roman"/>
                <a:ea typeface="Times New Roman"/>
                <a:cs typeface="Times New Roman"/>
                <a:sym typeface="Times New Roman"/>
              </a:rPr>
              <a:t>Regional &amp; Store Performance</a:t>
            </a:r>
          </a:p>
          <a:p>
            <a:pPr algn="l" marL="1511301" indent="-503767" lvl="2">
              <a:lnSpc>
                <a:spcPts val="4900"/>
              </a:lnSpc>
              <a:buFont typeface="Arial"/>
              <a:buChar char="⚬"/>
            </a:pPr>
            <a:r>
              <a:rPr lang="en-US" sz="3500">
                <a:solidFill>
                  <a:srgbClr val="000000"/>
                </a:solidFill>
                <a:latin typeface="Times New Roman"/>
                <a:ea typeface="Times New Roman"/>
                <a:cs typeface="Times New Roman"/>
                <a:sym typeface="Times New Roman"/>
              </a:rPr>
              <a:t>Product &amp; Customer Analytics</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KPIs such as revenue, profit, and target achievement were visualized</a:t>
            </a:r>
          </a:p>
          <a:p>
            <a:pPr algn="l" marL="755651" indent="-377825" lvl="1">
              <a:lnSpc>
                <a:spcPts val="4900"/>
              </a:lnSpc>
              <a:buFont typeface="Arial"/>
              <a:buChar char="•"/>
            </a:pPr>
            <a:r>
              <a:rPr lang="en-US" sz="3500">
                <a:solidFill>
                  <a:srgbClr val="000000"/>
                </a:solidFill>
                <a:latin typeface="Times New Roman"/>
                <a:ea typeface="Times New Roman"/>
                <a:cs typeface="Times New Roman"/>
                <a:sym typeface="Times New Roman"/>
              </a:rPr>
              <a:t>Filters, slicers, and charts enabled interactive data exploration</a:t>
            </a:r>
          </a:p>
          <a:p>
            <a:pPr algn="l">
              <a:lnSpc>
                <a:spcPts val="49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60763" y="2075928"/>
            <a:ext cx="13966474" cy="7856142"/>
          </a:xfrm>
          <a:custGeom>
            <a:avLst/>
            <a:gdLst/>
            <a:ahLst/>
            <a:cxnLst/>
            <a:rect r="r" b="b" t="t" l="l"/>
            <a:pathLst>
              <a:path h="7856142" w="13966474">
                <a:moveTo>
                  <a:pt x="0" y="0"/>
                </a:moveTo>
                <a:lnTo>
                  <a:pt x="13966474" y="0"/>
                </a:lnTo>
                <a:lnTo>
                  <a:pt x="13966474" y="7856142"/>
                </a:lnTo>
                <a:lnTo>
                  <a:pt x="0" y="7856142"/>
                </a:lnTo>
                <a:lnTo>
                  <a:pt x="0" y="0"/>
                </a:lnTo>
                <a:close/>
              </a:path>
            </a:pathLst>
          </a:custGeom>
          <a:blipFill>
            <a:blip r:embed="rId2"/>
            <a:stretch>
              <a:fillRect l="0" t="0" r="0" b="0"/>
            </a:stretch>
          </a:blipFill>
        </p:spPr>
      </p:sp>
      <p:sp>
        <p:nvSpPr>
          <p:cNvPr name="TextBox 3" id="3"/>
          <p:cNvSpPr txBox="true"/>
          <p:nvPr/>
        </p:nvSpPr>
        <p:spPr>
          <a:xfrm rot="0">
            <a:off x="702162" y="462216"/>
            <a:ext cx="15794207" cy="941070"/>
          </a:xfrm>
          <a:prstGeom prst="rect">
            <a:avLst/>
          </a:prstGeom>
        </p:spPr>
        <p:txBody>
          <a:bodyPr anchor="t" rtlCol="false" tIns="0" lIns="0" bIns="0" rIns="0">
            <a:spAutoFit/>
          </a:bodyPr>
          <a:lstStyle/>
          <a:p>
            <a:pPr algn="l" marL="0" indent="0" lvl="0">
              <a:lnSpc>
                <a:spcPts val="7139"/>
              </a:lnSpc>
            </a:pPr>
            <a:r>
              <a:rPr lang="en-US" b="true" sz="6000">
                <a:solidFill>
                  <a:srgbClr val="000000"/>
                </a:solidFill>
                <a:latin typeface="Times New Roman Bold"/>
                <a:ea typeface="Times New Roman Bold"/>
                <a:cs typeface="Times New Roman Bold"/>
                <a:sym typeface="Times New Roman Bold"/>
              </a:rPr>
              <a:t>POWER BI DASHBOARDS</a:t>
            </a:r>
          </a:p>
        </p:txBody>
      </p:sp>
      <p:sp>
        <p:nvSpPr>
          <p:cNvPr name="TextBox 4" id="4"/>
          <p:cNvSpPr txBox="true"/>
          <p:nvPr/>
        </p:nvSpPr>
        <p:spPr>
          <a:xfrm rot="0">
            <a:off x="702162" y="1450453"/>
            <a:ext cx="7469842" cy="625475"/>
          </a:xfrm>
          <a:prstGeom prst="rect">
            <a:avLst/>
          </a:prstGeom>
        </p:spPr>
        <p:txBody>
          <a:bodyPr anchor="t" rtlCol="false" tIns="0" lIns="0" bIns="0" rIns="0">
            <a:spAutoFit/>
          </a:bodyPr>
          <a:lstStyle/>
          <a:p>
            <a:pPr algn="l" marL="0" indent="0" lvl="0">
              <a:lnSpc>
                <a:spcPts val="4900"/>
              </a:lnSpc>
              <a:spcBef>
                <a:spcPct val="0"/>
              </a:spcBef>
            </a:pPr>
            <a:r>
              <a:rPr lang="en-US" b="true" sz="3500">
                <a:solidFill>
                  <a:srgbClr val="000000"/>
                </a:solidFill>
                <a:latin typeface="Times New Roman Bold"/>
                <a:ea typeface="Times New Roman Bold"/>
                <a:cs typeface="Times New Roman Bold"/>
                <a:sym typeface="Times New Roman Bold"/>
              </a:rPr>
              <a:t>EXECUTIVE SALES OVERVIEW</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102646"/>
            <a:ext cx="16291537" cy="9184354"/>
          </a:xfrm>
          <a:custGeom>
            <a:avLst/>
            <a:gdLst/>
            <a:ahLst/>
            <a:cxnLst/>
            <a:rect r="r" b="b" t="t" l="l"/>
            <a:pathLst>
              <a:path h="9184354" w="16291537">
                <a:moveTo>
                  <a:pt x="0" y="0"/>
                </a:moveTo>
                <a:lnTo>
                  <a:pt x="16291537" y="0"/>
                </a:lnTo>
                <a:lnTo>
                  <a:pt x="16291537" y="9184354"/>
                </a:lnTo>
                <a:lnTo>
                  <a:pt x="0" y="9184354"/>
                </a:lnTo>
                <a:lnTo>
                  <a:pt x="0" y="0"/>
                </a:lnTo>
                <a:close/>
              </a:path>
            </a:pathLst>
          </a:custGeom>
          <a:blipFill>
            <a:blip r:embed="rId2"/>
            <a:stretch>
              <a:fillRect l="0" t="0" r="0" b="0"/>
            </a:stretch>
          </a:blipFill>
        </p:spPr>
      </p:sp>
      <p:sp>
        <p:nvSpPr>
          <p:cNvPr name="TextBox 3" id="3"/>
          <p:cNvSpPr txBox="true"/>
          <p:nvPr/>
        </p:nvSpPr>
        <p:spPr>
          <a:xfrm rot="0">
            <a:off x="581905" y="477171"/>
            <a:ext cx="9233984" cy="625475"/>
          </a:xfrm>
          <a:prstGeom prst="rect">
            <a:avLst/>
          </a:prstGeom>
        </p:spPr>
        <p:txBody>
          <a:bodyPr anchor="t" rtlCol="false" tIns="0" lIns="0" bIns="0" rIns="0">
            <a:spAutoFit/>
          </a:bodyPr>
          <a:lstStyle/>
          <a:p>
            <a:pPr algn="l" marL="0" indent="0" lvl="0">
              <a:lnSpc>
                <a:spcPts val="4900"/>
              </a:lnSpc>
              <a:spcBef>
                <a:spcPct val="0"/>
              </a:spcBef>
            </a:pPr>
            <a:r>
              <a:rPr lang="en-US" b="true" sz="3500">
                <a:solidFill>
                  <a:srgbClr val="000000"/>
                </a:solidFill>
                <a:latin typeface="Times New Roman Bold"/>
                <a:ea typeface="Times New Roman Bold"/>
                <a:cs typeface="Times New Roman Bold"/>
                <a:sym typeface="Times New Roman Bold"/>
              </a:rPr>
              <a:t>REGIONAL AND STORE PERFORMANCE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4216" y="1102646"/>
            <a:ext cx="15899568" cy="8903758"/>
          </a:xfrm>
          <a:custGeom>
            <a:avLst/>
            <a:gdLst/>
            <a:ahLst/>
            <a:cxnLst/>
            <a:rect r="r" b="b" t="t" l="l"/>
            <a:pathLst>
              <a:path h="8903758" w="15899568">
                <a:moveTo>
                  <a:pt x="0" y="0"/>
                </a:moveTo>
                <a:lnTo>
                  <a:pt x="15899568" y="0"/>
                </a:lnTo>
                <a:lnTo>
                  <a:pt x="15899568" y="8903758"/>
                </a:lnTo>
                <a:lnTo>
                  <a:pt x="0" y="8903758"/>
                </a:lnTo>
                <a:lnTo>
                  <a:pt x="0" y="0"/>
                </a:lnTo>
                <a:close/>
              </a:path>
            </a:pathLst>
          </a:custGeom>
          <a:blipFill>
            <a:blip r:embed="rId2"/>
            <a:stretch>
              <a:fillRect l="0" t="0" r="0" b="0"/>
            </a:stretch>
          </a:blipFill>
        </p:spPr>
      </p:sp>
      <p:sp>
        <p:nvSpPr>
          <p:cNvPr name="TextBox 3" id="3"/>
          <p:cNvSpPr txBox="true"/>
          <p:nvPr/>
        </p:nvSpPr>
        <p:spPr>
          <a:xfrm rot="0">
            <a:off x="581905" y="477171"/>
            <a:ext cx="9446160" cy="625475"/>
          </a:xfrm>
          <a:prstGeom prst="rect">
            <a:avLst/>
          </a:prstGeom>
        </p:spPr>
        <p:txBody>
          <a:bodyPr anchor="t" rtlCol="false" tIns="0" lIns="0" bIns="0" rIns="0">
            <a:spAutoFit/>
          </a:bodyPr>
          <a:lstStyle/>
          <a:p>
            <a:pPr algn="l" marL="0" indent="0" lvl="0">
              <a:lnSpc>
                <a:spcPts val="4900"/>
              </a:lnSpc>
              <a:spcBef>
                <a:spcPct val="0"/>
              </a:spcBef>
            </a:pPr>
            <a:r>
              <a:rPr lang="en-US" b="true" sz="3500">
                <a:solidFill>
                  <a:srgbClr val="000000"/>
                </a:solidFill>
                <a:latin typeface="Times New Roman Bold"/>
                <a:ea typeface="Times New Roman Bold"/>
                <a:cs typeface="Times New Roman Bold"/>
                <a:sym typeface="Times New Roman Bold"/>
              </a:rPr>
              <a:t>PRODUCTS AND CUSTOMER ANALYTICS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861961" y="1786005"/>
            <a:ext cx="3675083" cy="2275051"/>
          </a:xfrm>
          <a:custGeom>
            <a:avLst/>
            <a:gdLst/>
            <a:ahLst/>
            <a:cxnLst/>
            <a:rect r="r" b="b" t="t" l="l"/>
            <a:pathLst>
              <a:path h="2275051" w="3675083">
                <a:moveTo>
                  <a:pt x="0" y="0"/>
                </a:moveTo>
                <a:lnTo>
                  <a:pt x="3675082" y="0"/>
                </a:lnTo>
                <a:lnTo>
                  <a:pt x="3675082" y="2275051"/>
                </a:lnTo>
                <a:lnTo>
                  <a:pt x="0" y="2275051"/>
                </a:lnTo>
                <a:lnTo>
                  <a:pt x="0" y="0"/>
                </a:lnTo>
                <a:close/>
              </a:path>
            </a:pathLst>
          </a:custGeom>
          <a:blipFill>
            <a:blip r:embed="rId2"/>
            <a:stretch>
              <a:fillRect l="0" t="0" r="0" b="0"/>
            </a:stretch>
          </a:blipFill>
        </p:spPr>
      </p:sp>
      <p:sp>
        <p:nvSpPr>
          <p:cNvPr name="Freeform 3" id="3"/>
          <p:cNvSpPr/>
          <p:nvPr/>
        </p:nvSpPr>
        <p:spPr>
          <a:xfrm flipH="false" flipV="false" rot="0">
            <a:off x="1455721" y="1163073"/>
            <a:ext cx="7327738" cy="4342273"/>
          </a:xfrm>
          <a:custGeom>
            <a:avLst/>
            <a:gdLst/>
            <a:ahLst/>
            <a:cxnLst/>
            <a:rect r="r" b="b" t="t" l="l"/>
            <a:pathLst>
              <a:path h="4342273" w="7327738">
                <a:moveTo>
                  <a:pt x="0" y="0"/>
                </a:moveTo>
                <a:lnTo>
                  <a:pt x="7327737" y="0"/>
                </a:lnTo>
                <a:lnTo>
                  <a:pt x="7327737" y="4342273"/>
                </a:lnTo>
                <a:lnTo>
                  <a:pt x="0" y="4342273"/>
                </a:lnTo>
                <a:lnTo>
                  <a:pt x="0" y="0"/>
                </a:lnTo>
                <a:close/>
              </a:path>
            </a:pathLst>
          </a:custGeom>
          <a:blipFill>
            <a:blip r:embed="rId3"/>
            <a:stretch>
              <a:fillRect l="-196" t="-6225" r="-196" b="0"/>
            </a:stretch>
          </a:blipFill>
        </p:spPr>
      </p:sp>
      <p:sp>
        <p:nvSpPr>
          <p:cNvPr name="Freeform 4" id="4"/>
          <p:cNvSpPr/>
          <p:nvPr/>
        </p:nvSpPr>
        <p:spPr>
          <a:xfrm flipH="false" flipV="false" rot="0">
            <a:off x="9861961" y="4850114"/>
            <a:ext cx="6198514" cy="5128119"/>
          </a:xfrm>
          <a:custGeom>
            <a:avLst/>
            <a:gdLst/>
            <a:ahLst/>
            <a:cxnLst/>
            <a:rect r="r" b="b" t="t" l="l"/>
            <a:pathLst>
              <a:path h="5128119" w="6198514">
                <a:moveTo>
                  <a:pt x="0" y="0"/>
                </a:moveTo>
                <a:lnTo>
                  <a:pt x="6198514" y="0"/>
                </a:lnTo>
                <a:lnTo>
                  <a:pt x="6198514" y="5128120"/>
                </a:lnTo>
                <a:lnTo>
                  <a:pt x="0" y="5128120"/>
                </a:lnTo>
                <a:lnTo>
                  <a:pt x="0" y="0"/>
                </a:lnTo>
                <a:close/>
              </a:path>
            </a:pathLst>
          </a:custGeom>
          <a:blipFill>
            <a:blip r:embed="rId4"/>
            <a:stretch>
              <a:fillRect l="0" t="-7442" r="0" b="0"/>
            </a:stretch>
          </a:blipFill>
        </p:spPr>
      </p:sp>
      <p:sp>
        <p:nvSpPr>
          <p:cNvPr name="Freeform 5" id="5"/>
          <p:cNvSpPr/>
          <p:nvPr/>
        </p:nvSpPr>
        <p:spPr>
          <a:xfrm flipH="false" flipV="false" rot="0">
            <a:off x="3505782" y="6075910"/>
            <a:ext cx="4446822" cy="3182390"/>
          </a:xfrm>
          <a:custGeom>
            <a:avLst/>
            <a:gdLst/>
            <a:ahLst/>
            <a:cxnLst/>
            <a:rect r="r" b="b" t="t" l="l"/>
            <a:pathLst>
              <a:path h="3182390" w="4446822">
                <a:moveTo>
                  <a:pt x="0" y="0"/>
                </a:moveTo>
                <a:lnTo>
                  <a:pt x="4446822" y="0"/>
                </a:lnTo>
                <a:lnTo>
                  <a:pt x="4446822" y="3182390"/>
                </a:lnTo>
                <a:lnTo>
                  <a:pt x="0" y="3182390"/>
                </a:lnTo>
                <a:lnTo>
                  <a:pt x="0" y="0"/>
                </a:lnTo>
                <a:close/>
              </a:path>
            </a:pathLst>
          </a:custGeom>
          <a:blipFill>
            <a:blip r:embed="rId5"/>
            <a:stretch>
              <a:fillRect l="0" t="0" r="0" b="0"/>
            </a:stretch>
          </a:blipFill>
        </p:spPr>
      </p:sp>
      <p:sp>
        <p:nvSpPr>
          <p:cNvPr name="TextBox 6" id="6"/>
          <p:cNvSpPr txBox="true"/>
          <p:nvPr/>
        </p:nvSpPr>
        <p:spPr>
          <a:xfrm rot="0">
            <a:off x="581905" y="477171"/>
            <a:ext cx="8562095" cy="625475"/>
          </a:xfrm>
          <a:prstGeom prst="rect">
            <a:avLst/>
          </a:prstGeom>
        </p:spPr>
        <p:txBody>
          <a:bodyPr anchor="t" rtlCol="false" tIns="0" lIns="0" bIns="0" rIns="0">
            <a:spAutoFit/>
          </a:bodyPr>
          <a:lstStyle/>
          <a:p>
            <a:pPr algn="l" marL="0" indent="0" lvl="0">
              <a:lnSpc>
                <a:spcPts val="4900"/>
              </a:lnSpc>
              <a:spcBef>
                <a:spcPct val="0"/>
              </a:spcBef>
            </a:pPr>
            <a:r>
              <a:rPr lang="en-US" b="true" sz="3500">
                <a:solidFill>
                  <a:srgbClr val="000000"/>
                </a:solidFill>
                <a:latin typeface="Times New Roman Bold"/>
                <a:ea typeface="Times New Roman Bold"/>
                <a:cs typeface="Times New Roman Bold"/>
                <a:sym typeface="Times New Roman Bold"/>
              </a:rPr>
              <a:t>KPI VALIDATION</a:t>
            </a:r>
          </a:p>
        </p:txBody>
      </p:sp>
      <p:sp>
        <p:nvSpPr>
          <p:cNvPr name="TextBox 7" id="7"/>
          <p:cNvSpPr txBox="true"/>
          <p:nvPr/>
        </p:nvSpPr>
        <p:spPr>
          <a:xfrm rot="0">
            <a:off x="336713" y="1307229"/>
            <a:ext cx="1119008"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1.</a:t>
            </a:r>
          </a:p>
        </p:txBody>
      </p:sp>
      <p:sp>
        <p:nvSpPr>
          <p:cNvPr name="TextBox 8" id="8"/>
          <p:cNvSpPr txBox="true"/>
          <p:nvPr/>
        </p:nvSpPr>
        <p:spPr>
          <a:xfrm rot="0">
            <a:off x="336713" y="6235612"/>
            <a:ext cx="1119008"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2.</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41361" y="-2496160"/>
            <a:ext cx="15656483" cy="1565648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BE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1560875" y="2700899"/>
            <a:ext cx="13443315" cy="4799478"/>
          </a:xfrm>
          <a:prstGeom prst="rect">
            <a:avLst/>
          </a:prstGeom>
        </p:spPr>
        <p:txBody>
          <a:bodyPr anchor="t" rtlCol="false" tIns="0" lIns="0" bIns="0" rIns="0">
            <a:spAutoFit/>
          </a:bodyPr>
          <a:lstStyle/>
          <a:p>
            <a:pPr algn="l">
              <a:lnSpc>
                <a:spcPts val="4786"/>
              </a:lnSpc>
            </a:pPr>
            <a:r>
              <a:rPr lang="en-US" sz="3419" b="true">
                <a:solidFill>
                  <a:srgbClr val="000000"/>
                </a:solidFill>
                <a:latin typeface="Times New Roman Bold"/>
                <a:ea typeface="Times New Roman Bold"/>
                <a:cs typeface="Times New Roman Bold"/>
                <a:sym typeface="Times New Roman Bold"/>
              </a:rPr>
              <a:t>Results Achieved</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Clean, validated datasets</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Improved data quality and insights</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Business-ready analytics</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Interactive dashboards</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Fully automated ETL pipeline</a:t>
            </a:r>
          </a:p>
          <a:p>
            <a:pPr algn="l" marL="738200" indent="-369100" lvl="1">
              <a:lnSpc>
                <a:spcPts val="4786"/>
              </a:lnSpc>
              <a:buFont typeface="Arial"/>
              <a:buChar char="•"/>
            </a:pPr>
            <a:r>
              <a:rPr lang="en-US" sz="3419">
                <a:solidFill>
                  <a:srgbClr val="000000"/>
                </a:solidFill>
                <a:latin typeface="Times New Roman"/>
                <a:ea typeface="Times New Roman"/>
                <a:cs typeface="Times New Roman"/>
                <a:sym typeface="Times New Roman"/>
              </a:rPr>
              <a:t>Successfully built an end-to-end analytics system</a:t>
            </a:r>
          </a:p>
          <a:p>
            <a:pPr algn="l" marL="0" indent="0" lvl="0">
              <a:lnSpc>
                <a:spcPts val="4786"/>
              </a:lnSpc>
              <a:spcBef>
                <a:spcPct val="0"/>
              </a:spcBef>
            </a:pPr>
          </a:p>
        </p:txBody>
      </p:sp>
      <p:sp>
        <p:nvSpPr>
          <p:cNvPr name="TextBox 6" id="6"/>
          <p:cNvSpPr txBox="true"/>
          <p:nvPr/>
        </p:nvSpPr>
        <p:spPr>
          <a:xfrm rot="0">
            <a:off x="1510234" y="664124"/>
            <a:ext cx="15749066" cy="1066800"/>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000000"/>
                </a:solidFill>
                <a:latin typeface="Times New Roman Bold"/>
                <a:ea typeface="Times New Roman Bold"/>
                <a:cs typeface="Times New Roman Bold"/>
                <a:sym typeface="Times New Roman Bold"/>
              </a:rPr>
              <a:t>RESULTS</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56206" y="-514350"/>
            <a:ext cx="6163724" cy="3086100"/>
            <a:chOff x="0" y="0"/>
            <a:chExt cx="1623368" cy="812800"/>
          </a:xfrm>
        </p:grpSpPr>
        <p:sp>
          <p:nvSpPr>
            <p:cNvPr name="Freeform 3" id="3"/>
            <p:cNvSpPr/>
            <p:nvPr/>
          </p:nvSpPr>
          <p:spPr>
            <a:xfrm flipH="false" flipV="false" rot="0">
              <a:off x="0" y="0"/>
              <a:ext cx="1623368" cy="812800"/>
            </a:xfrm>
            <a:custGeom>
              <a:avLst/>
              <a:gdLst/>
              <a:ahLst/>
              <a:cxnLst/>
              <a:rect r="r" b="b" t="t" l="l"/>
              <a:pathLst>
                <a:path h="812800" w="1623368">
                  <a:moveTo>
                    <a:pt x="0" y="0"/>
                  </a:moveTo>
                  <a:lnTo>
                    <a:pt x="1623368" y="0"/>
                  </a:lnTo>
                  <a:lnTo>
                    <a:pt x="1623368" y="812800"/>
                  </a:lnTo>
                  <a:lnTo>
                    <a:pt x="0" y="812800"/>
                  </a:lnTo>
                  <a:close/>
                </a:path>
              </a:pathLst>
            </a:custGeom>
            <a:solidFill>
              <a:srgbClr val="EAEBE9"/>
            </a:solidFill>
          </p:spPr>
        </p:sp>
        <p:sp>
          <p:nvSpPr>
            <p:cNvPr name="TextBox 4" id="4"/>
            <p:cNvSpPr txBox="true"/>
            <p:nvPr/>
          </p:nvSpPr>
          <p:spPr>
            <a:xfrm>
              <a:off x="0" y="-57150"/>
              <a:ext cx="1623368" cy="869950"/>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582136" y="8362283"/>
            <a:ext cx="7059741" cy="3086100"/>
            <a:chOff x="0" y="0"/>
            <a:chExt cx="1859356" cy="812800"/>
          </a:xfrm>
        </p:grpSpPr>
        <p:sp>
          <p:nvSpPr>
            <p:cNvPr name="Freeform 6" id="6"/>
            <p:cNvSpPr/>
            <p:nvPr/>
          </p:nvSpPr>
          <p:spPr>
            <a:xfrm flipH="false" flipV="false" rot="0">
              <a:off x="0" y="0"/>
              <a:ext cx="1859356" cy="812800"/>
            </a:xfrm>
            <a:custGeom>
              <a:avLst/>
              <a:gdLst/>
              <a:ahLst/>
              <a:cxnLst/>
              <a:rect r="r" b="b" t="t" l="l"/>
              <a:pathLst>
                <a:path h="812800" w="1859356">
                  <a:moveTo>
                    <a:pt x="0" y="0"/>
                  </a:moveTo>
                  <a:lnTo>
                    <a:pt x="1859356" y="0"/>
                  </a:lnTo>
                  <a:lnTo>
                    <a:pt x="1859356" y="812800"/>
                  </a:lnTo>
                  <a:lnTo>
                    <a:pt x="0" y="812800"/>
                  </a:lnTo>
                  <a:close/>
                </a:path>
              </a:pathLst>
            </a:custGeom>
            <a:solidFill>
              <a:srgbClr val="EAEBE9"/>
            </a:solidFill>
          </p:spPr>
        </p:sp>
        <p:sp>
          <p:nvSpPr>
            <p:cNvPr name="TextBox 7" id="7"/>
            <p:cNvSpPr txBox="true"/>
            <p:nvPr/>
          </p:nvSpPr>
          <p:spPr>
            <a:xfrm>
              <a:off x="0" y="-57150"/>
              <a:ext cx="1859356" cy="869950"/>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1771519" y="2680002"/>
            <a:ext cx="14744962" cy="5602605"/>
          </a:xfrm>
          <a:prstGeom prst="rect">
            <a:avLst/>
          </a:prstGeom>
        </p:spPr>
        <p:txBody>
          <a:bodyPr anchor="t" rtlCol="false" tIns="0" lIns="0" bIns="0" rIns="0">
            <a:spAutoFit/>
          </a:bodyPr>
          <a:lstStyle/>
          <a:p>
            <a:pPr algn="ctr" marL="0" indent="0" lvl="0">
              <a:lnSpc>
                <a:spcPts val="21659"/>
              </a:lnSpc>
            </a:pPr>
            <a:r>
              <a:rPr lang="en-US" b="true" sz="18999">
                <a:solidFill>
                  <a:srgbClr val="000000"/>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DAG9dtLJvqc</dc:identifier>
  <dcterms:modified xsi:type="dcterms:W3CDTF">2011-08-01T06:04:30Z</dcterms:modified>
  <cp:revision>1</cp:revision>
  <dc:title>Global Sales &amp; Retail Performance Analytics System</dc:title>
</cp:coreProperties>
</file>