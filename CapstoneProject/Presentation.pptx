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Lst>
  <p:sldSz cx="18288000" cy="10287000"/>
  <p:notesSz cx="6858000" cy="9144000"/>
  <p:embeddedFontLst>
    <p:embeddedFont>
      <p:font typeface="Times New Roman Bold" charset="1" panose="02020803070505020304"/>
      <p:regular r:id="rId30"/>
    </p:embeddedFont>
    <p:embeddedFont>
      <p:font typeface="Times New Roman" charset="1" panose="02020603050405020304"/>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fonts/font30.fntdata" Type="http://schemas.openxmlformats.org/officeDocument/2006/relationships/font"/><Relationship Id="rId31" Target="fonts/font31.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 Id="rId3" Target="../media/image5.png" Type="http://schemas.openxmlformats.org/officeDocument/2006/relationships/image"/><Relationship Id="rId4" Target="../media/image6.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10.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png" Type="http://schemas.openxmlformats.org/officeDocument/2006/relationships/image"/><Relationship Id="rId3" Target="../media/image13.png" Type="http://schemas.openxmlformats.org/officeDocument/2006/relationships/image"/><Relationship Id="rId4" Target="../media/image14.png" Type="http://schemas.openxmlformats.org/officeDocument/2006/relationships/image"/><Relationship Id="rId5" Target="../media/image15.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17.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19.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2.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3.png" Type="http://schemas.openxmlformats.org/officeDocument/2006/relationships/image"/><Relationship Id="rId3" Target="../media/image24.png" Type="http://schemas.openxmlformats.org/officeDocument/2006/relationships/image"/><Relationship Id="rId4" Target="../media/image25.png" Type="http://schemas.openxmlformats.org/officeDocument/2006/relationships/image"/><Relationship Id="rId5" Target="../media/image26.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4399838" y="0"/>
            <a:ext cx="3888162" cy="1571625"/>
            <a:chOff x="0" y="0"/>
            <a:chExt cx="1024043" cy="413926"/>
          </a:xfrm>
        </p:grpSpPr>
        <p:sp>
          <p:nvSpPr>
            <p:cNvPr name="Freeform 3" id="3"/>
            <p:cNvSpPr/>
            <p:nvPr/>
          </p:nvSpPr>
          <p:spPr>
            <a:xfrm flipH="false" flipV="false" rot="0">
              <a:off x="0" y="0"/>
              <a:ext cx="1024043" cy="413926"/>
            </a:xfrm>
            <a:custGeom>
              <a:avLst/>
              <a:gdLst/>
              <a:ahLst/>
              <a:cxnLst/>
              <a:rect r="r" b="b" t="t" l="l"/>
              <a:pathLst>
                <a:path h="413926" w="1024043">
                  <a:moveTo>
                    <a:pt x="0" y="0"/>
                  </a:moveTo>
                  <a:lnTo>
                    <a:pt x="1024043" y="0"/>
                  </a:lnTo>
                  <a:lnTo>
                    <a:pt x="1024043" y="413926"/>
                  </a:lnTo>
                  <a:lnTo>
                    <a:pt x="0" y="413926"/>
                  </a:lnTo>
                  <a:close/>
                </a:path>
              </a:pathLst>
            </a:custGeom>
            <a:solidFill>
              <a:srgbClr val="EAEBE9"/>
            </a:solidFill>
          </p:spPr>
        </p:sp>
        <p:sp>
          <p:nvSpPr>
            <p:cNvPr name="TextBox 4" id="4"/>
            <p:cNvSpPr txBox="true"/>
            <p:nvPr/>
          </p:nvSpPr>
          <p:spPr>
            <a:xfrm>
              <a:off x="0" y="-57150"/>
              <a:ext cx="1024043" cy="471076"/>
            </a:xfrm>
            <a:prstGeom prst="rect">
              <a:avLst/>
            </a:prstGeom>
          </p:spPr>
          <p:txBody>
            <a:bodyPr anchor="ctr" rtlCol="false" tIns="50800" lIns="50800" bIns="50800" rIns="50800"/>
            <a:lstStyle/>
            <a:p>
              <a:pPr algn="ctr">
                <a:lnSpc>
                  <a:spcPts val="3012"/>
                </a:lnSpc>
              </a:pPr>
            </a:p>
          </p:txBody>
        </p:sp>
      </p:grpSp>
      <p:grpSp>
        <p:nvGrpSpPr>
          <p:cNvPr name="Group 5" id="5"/>
          <p:cNvGrpSpPr/>
          <p:nvPr/>
        </p:nvGrpSpPr>
        <p:grpSpPr>
          <a:xfrm rot="0">
            <a:off x="0" y="9100603"/>
            <a:ext cx="2830214" cy="1186397"/>
            <a:chOff x="0" y="0"/>
            <a:chExt cx="745406" cy="312467"/>
          </a:xfrm>
        </p:grpSpPr>
        <p:sp>
          <p:nvSpPr>
            <p:cNvPr name="Freeform 6" id="6"/>
            <p:cNvSpPr/>
            <p:nvPr/>
          </p:nvSpPr>
          <p:spPr>
            <a:xfrm flipH="false" flipV="false" rot="0">
              <a:off x="0" y="0"/>
              <a:ext cx="745406" cy="312467"/>
            </a:xfrm>
            <a:custGeom>
              <a:avLst/>
              <a:gdLst/>
              <a:ahLst/>
              <a:cxnLst/>
              <a:rect r="r" b="b" t="t" l="l"/>
              <a:pathLst>
                <a:path h="312467" w="745406">
                  <a:moveTo>
                    <a:pt x="0" y="0"/>
                  </a:moveTo>
                  <a:lnTo>
                    <a:pt x="745406" y="0"/>
                  </a:lnTo>
                  <a:lnTo>
                    <a:pt x="745406" y="312467"/>
                  </a:lnTo>
                  <a:lnTo>
                    <a:pt x="0" y="312467"/>
                  </a:lnTo>
                  <a:close/>
                </a:path>
              </a:pathLst>
            </a:custGeom>
            <a:solidFill>
              <a:srgbClr val="EAEBE9"/>
            </a:solidFill>
          </p:spPr>
        </p:sp>
        <p:sp>
          <p:nvSpPr>
            <p:cNvPr name="TextBox 7" id="7"/>
            <p:cNvSpPr txBox="true"/>
            <p:nvPr/>
          </p:nvSpPr>
          <p:spPr>
            <a:xfrm>
              <a:off x="0" y="-57150"/>
              <a:ext cx="745406" cy="369617"/>
            </a:xfrm>
            <a:prstGeom prst="rect">
              <a:avLst/>
            </a:prstGeom>
          </p:spPr>
          <p:txBody>
            <a:bodyPr anchor="ctr" rtlCol="false" tIns="50800" lIns="50800" bIns="50800" rIns="50800"/>
            <a:lstStyle/>
            <a:p>
              <a:pPr algn="ctr">
                <a:lnSpc>
                  <a:spcPts val="3012"/>
                </a:lnSpc>
              </a:pPr>
            </a:p>
          </p:txBody>
        </p:sp>
      </p:grpSp>
      <p:sp>
        <p:nvSpPr>
          <p:cNvPr name="TextBox 8" id="8"/>
          <p:cNvSpPr txBox="true"/>
          <p:nvPr/>
        </p:nvSpPr>
        <p:spPr>
          <a:xfrm rot="0">
            <a:off x="2291162" y="2571750"/>
            <a:ext cx="13705675" cy="4786718"/>
          </a:xfrm>
          <a:prstGeom prst="rect">
            <a:avLst/>
          </a:prstGeom>
        </p:spPr>
        <p:txBody>
          <a:bodyPr anchor="t" rtlCol="false" tIns="0" lIns="0" bIns="0" rIns="0">
            <a:spAutoFit/>
          </a:bodyPr>
          <a:lstStyle/>
          <a:p>
            <a:pPr algn="ctr">
              <a:lnSpc>
                <a:spcPts val="9323"/>
              </a:lnSpc>
            </a:pPr>
            <a:r>
              <a:rPr lang="en-US" b="true" sz="8178">
                <a:solidFill>
                  <a:srgbClr val="000000"/>
                </a:solidFill>
                <a:latin typeface="Times New Roman Bold"/>
                <a:ea typeface="Times New Roman Bold"/>
                <a:cs typeface="Times New Roman Bold"/>
                <a:sym typeface="Times New Roman Bold"/>
              </a:rPr>
              <a:t>GLOBAL SALES &amp; RETAIL PERFORMANCE ANALYTICS SYSTEM</a:t>
            </a:r>
          </a:p>
          <a:p>
            <a:pPr algn="ctr" marL="0" indent="0" lvl="0">
              <a:lnSpc>
                <a:spcPts val="9323"/>
              </a:lnSpc>
            </a:pPr>
          </a:p>
        </p:txBody>
      </p:sp>
      <p:sp>
        <p:nvSpPr>
          <p:cNvPr name="TextBox 9" id="9"/>
          <p:cNvSpPr txBox="true"/>
          <p:nvPr/>
        </p:nvSpPr>
        <p:spPr>
          <a:xfrm rot="0">
            <a:off x="1771519" y="6298547"/>
            <a:ext cx="14744962" cy="1226194"/>
          </a:xfrm>
          <a:prstGeom prst="rect">
            <a:avLst/>
          </a:prstGeom>
        </p:spPr>
        <p:txBody>
          <a:bodyPr anchor="t" rtlCol="false" tIns="0" lIns="0" bIns="0" rIns="0">
            <a:spAutoFit/>
          </a:bodyPr>
          <a:lstStyle/>
          <a:p>
            <a:pPr algn="ctr">
              <a:lnSpc>
                <a:spcPts val="4864"/>
              </a:lnSpc>
            </a:pPr>
            <a:r>
              <a:rPr lang="en-US" sz="3474">
                <a:solidFill>
                  <a:srgbClr val="000000"/>
                </a:solidFill>
                <a:latin typeface="Times New Roman"/>
                <a:ea typeface="Times New Roman"/>
                <a:cs typeface="Times New Roman"/>
                <a:sym typeface="Times New Roman"/>
              </a:rPr>
              <a:t>An End-t</a:t>
            </a:r>
            <a:r>
              <a:rPr lang="en-US" sz="3474">
                <a:solidFill>
                  <a:srgbClr val="000000"/>
                </a:solidFill>
                <a:latin typeface="Times New Roman"/>
                <a:ea typeface="Times New Roman"/>
                <a:cs typeface="Times New Roman"/>
                <a:sym typeface="Times New Roman"/>
              </a:rPr>
              <a:t>o-End Data Engineering &amp; Analytics Project</a:t>
            </a:r>
          </a:p>
          <a:p>
            <a:pPr algn="ctr" marL="0" indent="0" lvl="0">
              <a:lnSpc>
                <a:spcPts val="4864"/>
              </a:lnSpc>
            </a:pPr>
          </a:p>
        </p:txBody>
      </p:sp>
      <p:sp>
        <p:nvSpPr>
          <p:cNvPr name="TextBox 10" id="10"/>
          <p:cNvSpPr txBox="true"/>
          <p:nvPr/>
        </p:nvSpPr>
        <p:spPr>
          <a:xfrm rot="0">
            <a:off x="13195530" y="8276558"/>
            <a:ext cx="4531794" cy="1181956"/>
          </a:xfrm>
          <a:prstGeom prst="rect">
            <a:avLst/>
          </a:prstGeom>
        </p:spPr>
        <p:txBody>
          <a:bodyPr anchor="t" rtlCol="false" tIns="0" lIns="0" bIns="0" rIns="0">
            <a:spAutoFit/>
          </a:bodyPr>
          <a:lstStyle/>
          <a:p>
            <a:pPr algn="r">
              <a:lnSpc>
                <a:spcPts val="4677"/>
              </a:lnSpc>
            </a:pPr>
            <a:r>
              <a:rPr lang="en-US" sz="3341" b="true">
                <a:solidFill>
                  <a:srgbClr val="000000"/>
                </a:solidFill>
                <a:latin typeface="Times New Roman Bold"/>
                <a:ea typeface="Times New Roman Bold"/>
                <a:cs typeface="Times New Roman Bold"/>
                <a:sym typeface="Times New Roman Bold"/>
              </a:rPr>
              <a:t>Ganji Misha Manmai</a:t>
            </a:r>
          </a:p>
          <a:p>
            <a:pPr algn="r" marL="0" indent="0" lvl="0">
              <a:lnSpc>
                <a:spcPts val="4677"/>
              </a:lnSpc>
              <a:spcBef>
                <a:spcPct val="0"/>
              </a:spcBef>
            </a:pPr>
            <a:r>
              <a:rPr lang="en-US" b="true" sz="3341">
                <a:solidFill>
                  <a:srgbClr val="000000"/>
                </a:solidFill>
                <a:latin typeface="Times New Roman Bold"/>
                <a:ea typeface="Times New Roman Bold"/>
                <a:cs typeface="Times New Roman Bold"/>
                <a:sym typeface="Times New Roman Bold"/>
              </a:rPr>
              <a:t>VNR VJIET</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4041361" y="-2496160"/>
            <a:ext cx="15656483" cy="15656483"/>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AEBE9"/>
            </a:solidFill>
          </p:spPr>
        </p:sp>
        <p:sp>
          <p:nvSpPr>
            <p:cNvPr name="TextBox 4" id="4"/>
            <p:cNvSpPr txBox="true"/>
            <p:nvPr/>
          </p:nvSpPr>
          <p:spPr>
            <a:xfrm>
              <a:off x="76200" y="19050"/>
              <a:ext cx="660400" cy="717550"/>
            </a:xfrm>
            <a:prstGeom prst="rect">
              <a:avLst/>
            </a:prstGeom>
          </p:spPr>
          <p:txBody>
            <a:bodyPr anchor="ctr" rtlCol="false" tIns="50800" lIns="50800" bIns="50800" rIns="50800"/>
            <a:lstStyle/>
            <a:p>
              <a:pPr algn="ctr">
                <a:lnSpc>
                  <a:spcPts val="3012"/>
                </a:lnSpc>
              </a:pPr>
            </a:p>
          </p:txBody>
        </p:sp>
      </p:grpSp>
      <p:sp>
        <p:nvSpPr>
          <p:cNvPr name="TextBox 5" id="5"/>
          <p:cNvSpPr txBox="true"/>
          <p:nvPr/>
        </p:nvSpPr>
        <p:spPr>
          <a:xfrm rot="0">
            <a:off x="1315448" y="2407432"/>
            <a:ext cx="15943852" cy="8054975"/>
          </a:xfrm>
          <a:prstGeom prst="rect">
            <a:avLst/>
          </a:prstGeom>
        </p:spPr>
        <p:txBody>
          <a:bodyPr anchor="t" rtlCol="false" tIns="0" lIns="0" bIns="0" rIns="0">
            <a:spAutoFit/>
          </a:bodyPr>
          <a:lstStyle/>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Retail sales data consists of the information generated when products are sold to customers by a retail organization. This data includes details related to sales transactions, products, customers, stores, and regions. Retail businesses generate large volumes of such data on a daily basis through both online and offline sales channels.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R</a:t>
            </a:r>
            <a:r>
              <a:rPr lang="en-US" sz="3500">
                <a:solidFill>
                  <a:srgbClr val="000000"/>
                </a:solidFill>
                <a:latin typeface="Times New Roman"/>
                <a:ea typeface="Times New Roman"/>
                <a:cs typeface="Times New Roman"/>
                <a:sym typeface="Times New Roman"/>
              </a:rPr>
              <a:t>etail sales analytics is the process of organizing and analyzing this data to understand business performance. By analyzing sales data, businesses can identify sales trends, understand customer purchasing behavior, evaluate product performance, and compare performance across different regions and stores.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Re</a:t>
            </a:r>
            <a:r>
              <a:rPr lang="en-US" sz="3500">
                <a:solidFill>
                  <a:srgbClr val="000000"/>
                </a:solidFill>
                <a:latin typeface="Times New Roman"/>
                <a:ea typeface="Times New Roman"/>
                <a:cs typeface="Times New Roman"/>
                <a:sym typeface="Times New Roman"/>
              </a:rPr>
              <a:t>tail </a:t>
            </a:r>
            <a:r>
              <a:rPr lang="en-US" sz="3500">
                <a:solidFill>
                  <a:srgbClr val="000000"/>
                </a:solidFill>
                <a:latin typeface="Times New Roman"/>
                <a:ea typeface="Times New Roman"/>
                <a:cs typeface="Times New Roman"/>
                <a:sym typeface="Times New Roman"/>
              </a:rPr>
              <a:t>s</a:t>
            </a:r>
            <a:r>
              <a:rPr lang="en-US" sz="3500">
                <a:solidFill>
                  <a:srgbClr val="000000"/>
                </a:solidFill>
                <a:latin typeface="Times New Roman"/>
                <a:ea typeface="Times New Roman"/>
                <a:cs typeface="Times New Roman"/>
                <a:sym typeface="Times New Roman"/>
              </a:rPr>
              <a:t>a</a:t>
            </a:r>
            <a:r>
              <a:rPr lang="en-US" sz="3500">
                <a:solidFill>
                  <a:srgbClr val="000000"/>
                </a:solidFill>
                <a:latin typeface="Times New Roman"/>
                <a:ea typeface="Times New Roman"/>
                <a:cs typeface="Times New Roman"/>
                <a:sym typeface="Times New Roman"/>
              </a:rPr>
              <a:t>l</a:t>
            </a:r>
            <a:r>
              <a:rPr lang="en-US" sz="3500">
                <a:solidFill>
                  <a:srgbClr val="000000"/>
                </a:solidFill>
                <a:latin typeface="Times New Roman"/>
                <a:ea typeface="Times New Roman"/>
                <a:cs typeface="Times New Roman"/>
                <a:sym typeface="Times New Roman"/>
              </a:rPr>
              <a:t>es analy</a:t>
            </a:r>
            <a:r>
              <a:rPr lang="en-US" sz="3500">
                <a:solidFill>
                  <a:srgbClr val="000000"/>
                </a:solidFill>
                <a:latin typeface="Times New Roman"/>
                <a:ea typeface="Times New Roman"/>
                <a:cs typeface="Times New Roman"/>
                <a:sym typeface="Times New Roman"/>
              </a:rPr>
              <a:t>t</a:t>
            </a:r>
            <a:r>
              <a:rPr lang="en-US" sz="3500">
                <a:solidFill>
                  <a:srgbClr val="000000"/>
                </a:solidFill>
                <a:latin typeface="Times New Roman"/>
                <a:ea typeface="Times New Roman"/>
                <a:cs typeface="Times New Roman"/>
                <a:sym typeface="Times New Roman"/>
              </a:rPr>
              <a:t>ics helps organizations transform raw sales data into meaningful insights, which support better planning, performance monitoring, and informed business decision-making.</a:t>
            </a:r>
          </a:p>
          <a:p>
            <a:pPr algn="l" marL="0" indent="0" lvl="0">
              <a:lnSpc>
                <a:spcPts val="4900"/>
              </a:lnSpc>
              <a:spcBef>
                <a:spcPct val="0"/>
              </a:spcBef>
            </a:pPr>
          </a:p>
        </p:txBody>
      </p:sp>
      <p:sp>
        <p:nvSpPr>
          <p:cNvPr name="TextBox 6" id="6"/>
          <p:cNvSpPr txBox="true"/>
          <p:nvPr/>
        </p:nvSpPr>
        <p:spPr>
          <a:xfrm rot="0">
            <a:off x="1028700" y="639970"/>
            <a:ext cx="15749066" cy="1066800"/>
          </a:xfrm>
          <a:prstGeom prst="rect">
            <a:avLst/>
          </a:prstGeom>
        </p:spPr>
        <p:txBody>
          <a:bodyPr anchor="t" rtlCol="false" tIns="0" lIns="0" bIns="0" rIns="0">
            <a:spAutoFit/>
          </a:bodyPr>
          <a:lstStyle/>
          <a:p>
            <a:pPr algn="l"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INTRODUCTION</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4041361" y="-2496160"/>
            <a:ext cx="15656483" cy="15656483"/>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AEBE9"/>
            </a:solidFill>
          </p:spPr>
        </p:sp>
        <p:sp>
          <p:nvSpPr>
            <p:cNvPr name="TextBox 4" id="4"/>
            <p:cNvSpPr txBox="true"/>
            <p:nvPr/>
          </p:nvSpPr>
          <p:spPr>
            <a:xfrm>
              <a:off x="76200" y="19050"/>
              <a:ext cx="660400" cy="717550"/>
            </a:xfrm>
            <a:prstGeom prst="rect">
              <a:avLst/>
            </a:prstGeom>
          </p:spPr>
          <p:txBody>
            <a:bodyPr anchor="ctr" rtlCol="false" tIns="50800" lIns="50800" bIns="50800" rIns="50800"/>
            <a:lstStyle/>
            <a:p>
              <a:pPr algn="ctr">
                <a:lnSpc>
                  <a:spcPts val="3012"/>
                </a:lnSpc>
              </a:pPr>
            </a:p>
          </p:txBody>
        </p:sp>
      </p:grpSp>
      <p:sp>
        <p:nvSpPr>
          <p:cNvPr name="TextBox 5" id="5"/>
          <p:cNvSpPr txBox="true"/>
          <p:nvPr/>
        </p:nvSpPr>
        <p:spPr>
          <a:xfrm rot="0">
            <a:off x="1315448" y="2407432"/>
            <a:ext cx="13443315" cy="7435850"/>
          </a:xfrm>
          <a:prstGeom prst="rect">
            <a:avLst/>
          </a:prstGeom>
        </p:spPr>
        <p:txBody>
          <a:bodyPr anchor="t" rtlCol="false" tIns="0" lIns="0" bIns="0" rIns="0">
            <a:spAutoFit/>
          </a:bodyPr>
          <a:lstStyle/>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Retail sales data is spread across multiple CSV files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Manual consolidation leads to:</a:t>
            </a:r>
          </a:p>
          <a:p>
            <a:pPr algn="l" marL="1511301" indent="-503767" lvl="2">
              <a:lnSpc>
                <a:spcPts val="4900"/>
              </a:lnSpc>
              <a:buFont typeface="Arial"/>
              <a:buChar char="⚬"/>
            </a:pPr>
            <a:r>
              <a:rPr lang="en-US" sz="3500">
                <a:solidFill>
                  <a:srgbClr val="000000"/>
                </a:solidFill>
                <a:latin typeface="Times New Roman"/>
                <a:ea typeface="Times New Roman"/>
                <a:cs typeface="Times New Roman"/>
                <a:sym typeface="Times New Roman"/>
              </a:rPr>
              <a:t>Errors</a:t>
            </a:r>
          </a:p>
          <a:p>
            <a:pPr algn="l" marL="1511301" indent="-503767" lvl="2">
              <a:lnSpc>
                <a:spcPts val="4900"/>
              </a:lnSpc>
              <a:buFont typeface="Arial"/>
              <a:buChar char="⚬"/>
            </a:pPr>
            <a:r>
              <a:rPr lang="en-US" sz="3500">
                <a:solidFill>
                  <a:srgbClr val="000000"/>
                </a:solidFill>
                <a:latin typeface="Times New Roman"/>
                <a:ea typeface="Times New Roman"/>
                <a:cs typeface="Times New Roman"/>
                <a:sym typeface="Times New Roman"/>
              </a:rPr>
              <a:t>Delays</a:t>
            </a:r>
          </a:p>
          <a:p>
            <a:pPr algn="l" marL="1511301" indent="-503767" lvl="2">
              <a:lnSpc>
                <a:spcPts val="4900"/>
              </a:lnSpc>
              <a:buFont typeface="Arial"/>
              <a:buChar char="⚬"/>
            </a:pPr>
            <a:r>
              <a:rPr lang="en-US" sz="3500">
                <a:solidFill>
                  <a:srgbClr val="000000"/>
                </a:solidFill>
                <a:latin typeface="Times New Roman"/>
                <a:ea typeface="Times New Roman"/>
                <a:cs typeface="Times New Roman"/>
                <a:sym typeface="Times New Roman"/>
              </a:rPr>
              <a:t>Inconsistent reports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No unified view of:</a:t>
            </a:r>
          </a:p>
          <a:p>
            <a:pPr algn="l" marL="1511301" indent="-503767" lvl="2">
              <a:lnSpc>
                <a:spcPts val="4900"/>
              </a:lnSpc>
              <a:buFont typeface="Arial"/>
              <a:buChar char="⚬"/>
            </a:pPr>
            <a:r>
              <a:rPr lang="en-US" sz="3500">
                <a:solidFill>
                  <a:srgbClr val="000000"/>
                </a:solidFill>
                <a:latin typeface="Times New Roman"/>
                <a:ea typeface="Times New Roman"/>
                <a:cs typeface="Times New Roman"/>
                <a:sym typeface="Times New Roman"/>
              </a:rPr>
              <a:t>Sales performance</a:t>
            </a:r>
          </a:p>
          <a:p>
            <a:pPr algn="l" marL="1511301" indent="-503767" lvl="2">
              <a:lnSpc>
                <a:spcPts val="4900"/>
              </a:lnSpc>
              <a:buFont typeface="Arial"/>
              <a:buChar char="⚬"/>
            </a:pPr>
            <a:r>
              <a:rPr lang="en-US" sz="3500">
                <a:solidFill>
                  <a:srgbClr val="000000"/>
                </a:solidFill>
                <a:latin typeface="Times New Roman"/>
                <a:ea typeface="Times New Roman"/>
                <a:cs typeface="Times New Roman"/>
                <a:sym typeface="Times New Roman"/>
              </a:rPr>
              <a:t>Customer behavior</a:t>
            </a:r>
          </a:p>
          <a:p>
            <a:pPr algn="l" marL="1511301" indent="-503767" lvl="2">
              <a:lnSpc>
                <a:spcPts val="4900"/>
              </a:lnSpc>
              <a:buFont typeface="Arial"/>
              <a:buChar char="⚬"/>
            </a:pPr>
            <a:r>
              <a:rPr lang="en-US" sz="3500">
                <a:solidFill>
                  <a:srgbClr val="000000"/>
                </a:solidFill>
                <a:latin typeface="Times New Roman"/>
                <a:ea typeface="Times New Roman"/>
                <a:cs typeface="Times New Roman"/>
                <a:sym typeface="Times New Roman"/>
              </a:rPr>
              <a:t>Product profitability</a:t>
            </a:r>
          </a:p>
          <a:p>
            <a:pPr algn="l">
              <a:lnSpc>
                <a:spcPts val="4900"/>
              </a:lnSpc>
            </a:pPr>
            <a:r>
              <a:rPr lang="en-US" sz="3500" b="true">
                <a:solidFill>
                  <a:srgbClr val="000000"/>
                </a:solidFill>
                <a:latin typeface="Times New Roman Bold"/>
                <a:ea typeface="Times New Roman Bold"/>
                <a:cs typeface="Times New Roman Bold"/>
                <a:sym typeface="Times New Roman Bold"/>
              </a:rPr>
              <a:t>Result:</a:t>
            </a:r>
          </a:p>
          <a:p>
            <a:pPr algn="l">
              <a:lnSpc>
                <a:spcPts val="4900"/>
              </a:lnSpc>
            </a:pPr>
            <a:r>
              <a:rPr lang="en-US" sz="3500">
                <a:solidFill>
                  <a:srgbClr val="000000"/>
                </a:solidFill>
                <a:latin typeface="Times New Roman"/>
                <a:ea typeface="Times New Roman"/>
                <a:cs typeface="Times New Roman"/>
                <a:sym typeface="Times New Roman"/>
              </a:rPr>
              <a:t> Decision-making is slow and unreliable.</a:t>
            </a:r>
          </a:p>
          <a:p>
            <a:pPr algn="l" marL="0" indent="0" lvl="0">
              <a:lnSpc>
                <a:spcPts val="4900"/>
              </a:lnSpc>
              <a:spcBef>
                <a:spcPct val="0"/>
              </a:spcBef>
            </a:pPr>
          </a:p>
        </p:txBody>
      </p:sp>
      <p:sp>
        <p:nvSpPr>
          <p:cNvPr name="TextBox 6" id="6"/>
          <p:cNvSpPr txBox="true"/>
          <p:nvPr/>
        </p:nvSpPr>
        <p:spPr>
          <a:xfrm rot="0">
            <a:off x="1028700" y="639970"/>
            <a:ext cx="15749066" cy="1066800"/>
          </a:xfrm>
          <a:prstGeom prst="rect">
            <a:avLst/>
          </a:prstGeom>
        </p:spPr>
        <p:txBody>
          <a:bodyPr anchor="t" rtlCol="false" tIns="0" lIns="0" bIns="0" rIns="0">
            <a:spAutoFit/>
          </a:bodyPr>
          <a:lstStyle/>
          <a:p>
            <a:pPr algn="l"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PROBLEM STATEMENT</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7552125" y="311166"/>
            <a:ext cx="8771927" cy="1094030"/>
            <a:chOff x="0" y="0"/>
            <a:chExt cx="2310302" cy="288140"/>
          </a:xfrm>
        </p:grpSpPr>
        <p:sp>
          <p:nvSpPr>
            <p:cNvPr name="Freeform 3" id="3"/>
            <p:cNvSpPr/>
            <p:nvPr/>
          </p:nvSpPr>
          <p:spPr>
            <a:xfrm flipH="false" flipV="false" rot="0">
              <a:off x="0" y="0"/>
              <a:ext cx="2310302" cy="288140"/>
            </a:xfrm>
            <a:custGeom>
              <a:avLst/>
              <a:gdLst/>
              <a:ahLst/>
              <a:cxnLst/>
              <a:rect r="r" b="b" t="t" l="l"/>
              <a:pathLst>
                <a:path h="288140" w="2310302">
                  <a:moveTo>
                    <a:pt x="0" y="0"/>
                  </a:moveTo>
                  <a:lnTo>
                    <a:pt x="2310302" y="0"/>
                  </a:lnTo>
                  <a:lnTo>
                    <a:pt x="2310302" y="288140"/>
                  </a:lnTo>
                  <a:lnTo>
                    <a:pt x="0" y="288140"/>
                  </a:lnTo>
                  <a:close/>
                </a:path>
              </a:pathLst>
            </a:custGeom>
            <a:solidFill>
              <a:srgbClr val="BBC8B1"/>
            </a:solidFill>
          </p:spPr>
        </p:sp>
        <p:sp>
          <p:nvSpPr>
            <p:cNvPr name="TextBox 4" id="4"/>
            <p:cNvSpPr txBox="true"/>
            <p:nvPr/>
          </p:nvSpPr>
          <p:spPr>
            <a:xfrm>
              <a:off x="0" y="-95250"/>
              <a:ext cx="2310302" cy="383390"/>
            </a:xfrm>
            <a:prstGeom prst="rect">
              <a:avLst/>
            </a:prstGeom>
          </p:spPr>
          <p:txBody>
            <a:bodyPr anchor="ctr" rtlCol="false" tIns="50800" lIns="50800" bIns="50800" rIns="50800"/>
            <a:lstStyle/>
            <a:p>
              <a:pPr algn="ctr" marL="755651" indent="-377825" lvl="1">
                <a:lnSpc>
                  <a:spcPts val="4900"/>
                </a:lnSpc>
                <a:buFont typeface="Arial"/>
                <a:buChar char="•"/>
              </a:pPr>
              <a:r>
                <a:rPr lang="en-US" b="true" sz="3500">
                  <a:solidFill>
                    <a:srgbClr val="000000"/>
                  </a:solidFill>
                  <a:latin typeface="Times New Roman Bold"/>
                  <a:ea typeface="Times New Roman Bold"/>
                  <a:cs typeface="Times New Roman Bold"/>
                  <a:sym typeface="Times New Roman Bold"/>
                </a:rPr>
                <a:t>Build</a:t>
              </a:r>
              <a:r>
                <a:rPr lang="en-US" b="true" sz="3500">
                  <a:solidFill>
                    <a:srgbClr val="000000"/>
                  </a:solidFill>
                  <a:latin typeface="Times New Roman Bold"/>
                  <a:ea typeface="Times New Roman Bold"/>
                  <a:cs typeface="Times New Roman Bold"/>
                  <a:sym typeface="Times New Roman Bold"/>
                </a:rPr>
                <a:t> an end-to-end analytics pipeline</a:t>
              </a:r>
            </a:p>
          </p:txBody>
        </p:sp>
      </p:grpSp>
      <p:grpSp>
        <p:nvGrpSpPr>
          <p:cNvPr name="Group 5" id="5"/>
          <p:cNvGrpSpPr/>
          <p:nvPr/>
        </p:nvGrpSpPr>
        <p:grpSpPr>
          <a:xfrm rot="0">
            <a:off x="7552125" y="1803744"/>
            <a:ext cx="9819777" cy="1094030"/>
            <a:chOff x="0" y="0"/>
            <a:chExt cx="2586279" cy="288140"/>
          </a:xfrm>
        </p:grpSpPr>
        <p:sp>
          <p:nvSpPr>
            <p:cNvPr name="Freeform 6" id="6"/>
            <p:cNvSpPr/>
            <p:nvPr/>
          </p:nvSpPr>
          <p:spPr>
            <a:xfrm flipH="false" flipV="false" rot="0">
              <a:off x="0" y="0"/>
              <a:ext cx="2586279" cy="288140"/>
            </a:xfrm>
            <a:custGeom>
              <a:avLst/>
              <a:gdLst/>
              <a:ahLst/>
              <a:cxnLst/>
              <a:rect r="r" b="b" t="t" l="l"/>
              <a:pathLst>
                <a:path h="288140" w="2586279">
                  <a:moveTo>
                    <a:pt x="0" y="0"/>
                  </a:moveTo>
                  <a:lnTo>
                    <a:pt x="2586279" y="0"/>
                  </a:lnTo>
                  <a:lnTo>
                    <a:pt x="2586279" y="288140"/>
                  </a:lnTo>
                  <a:lnTo>
                    <a:pt x="0" y="288140"/>
                  </a:lnTo>
                  <a:close/>
                </a:path>
              </a:pathLst>
            </a:custGeom>
            <a:solidFill>
              <a:srgbClr val="BBC8B1"/>
            </a:solidFill>
          </p:spPr>
        </p:sp>
        <p:sp>
          <p:nvSpPr>
            <p:cNvPr name="TextBox 7" id="7"/>
            <p:cNvSpPr txBox="true"/>
            <p:nvPr/>
          </p:nvSpPr>
          <p:spPr>
            <a:xfrm>
              <a:off x="0" y="-95250"/>
              <a:ext cx="2586279" cy="383390"/>
            </a:xfrm>
            <a:prstGeom prst="rect">
              <a:avLst/>
            </a:prstGeom>
          </p:spPr>
          <p:txBody>
            <a:bodyPr anchor="ctr" rtlCol="false" tIns="50800" lIns="50800" bIns="50800" rIns="50800"/>
            <a:lstStyle/>
            <a:p>
              <a:pPr algn="ctr" marL="755651" indent="-377825" lvl="1">
                <a:lnSpc>
                  <a:spcPts val="4900"/>
                </a:lnSpc>
                <a:buFont typeface="Arial"/>
                <a:buChar char="•"/>
              </a:pPr>
              <a:r>
                <a:rPr lang="en-US" b="true" sz="3500">
                  <a:solidFill>
                    <a:srgbClr val="000000"/>
                  </a:solidFill>
                  <a:latin typeface="Times New Roman Bold"/>
                  <a:ea typeface="Times New Roman Bold"/>
                  <a:cs typeface="Times New Roman Bold"/>
                  <a:sym typeface="Times New Roman Bold"/>
                </a:rPr>
                <a:t>Automat</a:t>
              </a:r>
              <a:r>
                <a:rPr lang="en-US" b="true" sz="3500">
                  <a:solidFill>
                    <a:srgbClr val="000000"/>
                  </a:solidFill>
                  <a:latin typeface="Times New Roman Bold"/>
                  <a:ea typeface="Times New Roman Bold"/>
                  <a:cs typeface="Times New Roman Bold"/>
                  <a:sym typeface="Times New Roman Bold"/>
                </a:rPr>
                <a:t>e data ingestion and transformation</a:t>
              </a:r>
            </a:p>
          </p:txBody>
        </p:sp>
      </p:grpSp>
      <p:grpSp>
        <p:nvGrpSpPr>
          <p:cNvPr name="Group 8" id="8"/>
          <p:cNvGrpSpPr/>
          <p:nvPr/>
        </p:nvGrpSpPr>
        <p:grpSpPr>
          <a:xfrm rot="0">
            <a:off x="7552125" y="3296323"/>
            <a:ext cx="8422644" cy="1251687"/>
            <a:chOff x="0" y="0"/>
            <a:chExt cx="2218309" cy="329663"/>
          </a:xfrm>
        </p:grpSpPr>
        <p:sp>
          <p:nvSpPr>
            <p:cNvPr name="Freeform 9" id="9"/>
            <p:cNvSpPr/>
            <p:nvPr/>
          </p:nvSpPr>
          <p:spPr>
            <a:xfrm flipH="false" flipV="false" rot="0">
              <a:off x="0" y="0"/>
              <a:ext cx="2218309" cy="329663"/>
            </a:xfrm>
            <a:custGeom>
              <a:avLst/>
              <a:gdLst/>
              <a:ahLst/>
              <a:cxnLst/>
              <a:rect r="r" b="b" t="t" l="l"/>
              <a:pathLst>
                <a:path h="329663" w="2218309">
                  <a:moveTo>
                    <a:pt x="0" y="0"/>
                  </a:moveTo>
                  <a:lnTo>
                    <a:pt x="2218309" y="0"/>
                  </a:lnTo>
                  <a:lnTo>
                    <a:pt x="2218309" y="329663"/>
                  </a:lnTo>
                  <a:lnTo>
                    <a:pt x="0" y="329663"/>
                  </a:lnTo>
                  <a:close/>
                </a:path>
              </a:pathLst>
            </a:custGeom>
            <a:solidFill>
              <a:srgbClr val="BBC8B1"/>
            </a:solidFill>
          </p:spPr>
        </p:sp>
        <p:sp>
          <p:nvSpPr>
            <p:cNvPr name="TextBox 10" id="10"/>
            <p:cNvSpPr txBox="true"/>
            <p:nvPr/>
          </p:nvSpPr>
          <p:spPr>
            <a:xfrm>
              <a:off x="0" y="-95250"/>
              <a:ext cx="2218309" cy="424913"/>
            </a:xfrm>
            <a:prstGeom prst="rect">
              <a:avLst/>
            </a:prstGeom>
          </p:spPr>
          <p:txBody>
            <a:bodyPr anchor="ctr" rtlCol="false" tIns="50800" lIns="50800" bIns="50800" rIns="50800"/>
            <a:lstStyle/>
            <a:p>
              <a:pPr algn="ctr" marL="755651" indent="-377825" lvl="1">
                <a:lnSpc>
                  <a:spcPts val="4900"/>
                </a:lnSpc>
                <a:buFont typeface="Arial"/>
                <a:buChar char="•"/>
              </a:pPr>
              <a:r>
                <a:rPr lang="en-US" b="true" sz="3500">
                  <a:solidFill>
                    <a:srgbClr val="000000"/>
                  </a:solidFill>
                  <a:latin typeface="Times New Roman Bold"/>
                  <a:ea typeface="Times New Roman Bold"/>
                  <a:cs typeface="Times New Roman Bold"/>
                  <a:sym typeface="Times New Roman Bold"/>
                </a:rPr>
                <a:t>Improv</a:t>
              </a:r>
              <a:r>
                <a:rPr lang="en-US" b="true" sz="3500">
                  <a:solidFill>
                    <a:srgbClr val="000000"/>
                  </a:solidFill>
                  <a:latin typeface="Times New Roman Bold"/>
                  <a:ea typeface="Times New Roman Bold"/>
                  <a:cs typeface="Times New Roman Bold"/>
                  <a:sym typeface="Times New Roman Bold"/>
                </a:rPr>
                <a:t>e data quality and consistency</a:t>
              </a:r>
            </a:p>
          </p:txBody>
        </p:sp>
      </p:grpSp>
      <p:grpSp>
        <p:nvGrpSpPr>
          <p:cNvPr name="Group 11" id="11"/>
          <p:cNvGrpSpPr/>
          <p:nvPr/>
        </p:nvGrpSpPr>
        <p:grpSpPr>
          <a:xfrm rot="0">
            <a:off x="563137" y="-247664"/>
            <a:ext cx="6584375" cy="11174045"/>
            <a:chOff x="0" y="0"/>
            <a:chExt cx="1734156" cy="2942958"/>
          </a:xfrm>
        </p:grpSpPr>
        <p:sp>
          <p:nvSpPr>
            <p:cNvPr name="Freeform 12" id="12"/>
            <p:cNvSpPr/>
            <p:nvPr/>
          </p:nvSpPr>
          <p:spPr>
            <a:xfrm flipH="false" flipV="false" rot="0">
              <a:off x="0" y="0"/>
              <a:ext cx="1734156" cy="2942958"/>
            </a:xfrm>
            <a:custGeom>
              <a:avLst/>
              <a:gdLst/>
              <a:ahLst/>
              <a:cxnLst/>
              <a:rect r="r" b="b" t="t" l="l"/>
              <a:pathLst>
                <a:path h="2942958" w="1734156">
                  <a:moveTo>
                    <a:pt x="0" y="0"/>
                  </a:moveTo>
                  <a:lnTo>
                    <a:pt x="1734156" y="0"/>
                  </a:lnTo>
                  <a:lnTo>
                    <a:pt x="1734156" y="2942958"/>
                  </a:lnTo>
                  <a:lnTo>
                    <a:pt x="0" y="2942958"/>
                  </a:lnTo>
                  <a:close/>
                </a:path>
              </a:pathLst>
            </a:custGeom>
            <a:solidFill>
              <a:srgbClr val="EAEBE9"/>
            </a:solidFill>
          </p:spPr>
        </p:sp>
        <p:sp>
          <p:nvSpPr>
            <p:cNvPr name="TextBox 13" id="13"/>
            <p:cNvSpPr txBox="true"/>
            <p:nvPr/>
          </p:nvSpPr>
          <p:spPr>
            <a:xfrm>
              <a:off x="0" y="-57150"/>
              <a:ext cx="1734156" cy="3000108"/>
            </a:xfrm>
            <a:prstGeom prst="rect">
              <a:avLst/>
            </a:prstGeom>
          </p:spPr>
          <p:txBody>
            <a:bodyPr anchor="ctr" rtlCol="false" tIns="50800" lIns="50800" bIns="50800" rIns="50800"/>
            <a:lstStyle/>
            <a:p>
              <a:pPr algn="ctr">
                <a:lnSpc>
                  <a:spcPts val="3012"/>
                </a:lnSpc>
              </a:pPr>
            </a:p>
          </p:txBody>
        </p:sp>
      </p:grpSp>
      <p:sp>
        <p:nvSpPr>
          <p:cNvPr name="TextBox 14" id="14"/>
          <p:cNvSpPr txBox="true"/>
          <p:nvPr/>
        </p:nvSpPr>
        <p:spPr>
          <a:xfrm rot="0">
            <a:off x="1028700" y="1162723"/>
            <a:ext cx="6118812" cy="2133600"/>
          </a:xfrm>
          <a:prstGeom prst="rect">
            <a:avLst/>
          </a:prstGeom>
        </p:spPr>
        <p:txBody>
          <a:bodyPr anchor="t" rtlCol="false" tIns="0" lIns="0" bIns="0" rIns="0">
            <a:spAutoFit/>
          </a:bodyPr>
          <a:lstStyle/>
          <a:p>
            <a:pPr algn="l"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PROJECT OBJECTIVES</a:t>
            </a:r>
          </a:p>
        </p:txBody>
      </p:sp>
      <p:grpSp>
        <p:nvGrpSpPr>
          <p:cNvPr name="Group 15" id="15"/>
          <p:cNvGrpSpPr/>
          <p:nvPr/>
        </p:nvGrpSpPr>
        <p:grpSpPr>
          <a:xfrm rot="0">
            <a:off x="7552125" y="4948060"/>
            <a:ext cx="8029700" cy="1094030"/>
            <a:chOff x="0" y="0"/>
            <a:chExt cx="2114818" cy="288140"/>
          </a:xfrm>
        </p:grpSpPr>
        <p:sp>
          <p:nvSpPr>
            <p:cNvPr name="Freeform 16" id="16"/>
            <p:cNvSpPr/>
            <p:nvPr/>
          </p:nvSpPr>
          <p:spPr>
            <a:xfrm flipH="false" flipV="false" rot="0">
              <a:off x="0" y="0"/>
              <a:ext cx="2114818" cy="288140"/>
            </a:xfrm>
            <a:custGeom>
              <a:avLst/>
              <a:gdLst/>
              <a:ahLst/>
              <a:cxnLst/>
              <a:rect r="r" b="b" t="t" l="l"/>
              <a:pathLst>
                <a:path h="288140" w="2114818">
                  <a:moveTo>
                    <a:pt x="0" y="0"/>
                  </a:moveTo>
                  <a:lnTo>
                    <a:pt x="2114818" y="0"/>
                  </a:lnTo>
                  <a:lnTo>
                    <a:pt x="2114818" y="288140"/>
                  </a:lnTo>
                  <a:lnTo>
                    <a:pt x="0" y="288140"/>
                  </a:lnTo>
                  <a:close/>
                </a:path>
              </a:pathLst>
            </a:custGeom>
            <a:solidFill>
              <a:srgbClr val="BBC8B1"/>
            </a:solidFill>
          </p:spPr>
        </p:sp>
        <p:sp>
          <p:nvSpPr>
            <p:cNvPr name="TextBox 17" id="17"/>
            <p:cNvSpPr txBox="true"/>
            <p:nvPr/>
          </p:nvSpPr>
          <p:spPr>
            <a:xfrm>
              <a:off x="0" y="-95250"/>
              <a:ext cx="2114818" cy="383390"/>
            </a:xfrm>
            <a:prstGeom prst="rect">
              <a:avLst/>
            </a:prstGeom>
          </p:spPr>
          <p:txBody>
            <a:bodyPr anchor="ctr" rtlCol="false" tIns="50800" lIns="50800" bIns="50800" rIns="50800"/>
            <a:lstStyle/>
            <a:p>
              <a:pPr algn="ctr" marL="755651" indent="-377825" lvl="1">
                <a:lnSpc>
                  <a:spcPts val="4900"/>
                </a:lnSpc>
                <a:buFont typeface="Arial"/>
                <a:buChar char="•"/>
              </a:pPr>
              <a:r>
                <a:rPr lang="en-US" b="true" sz="3500">
                  <a:solidFill>
                    <a:srgbClr val="000000"/>
                  </a:solidFill>
                  <a:latin typeface="Times New Roman Bold"/>
                  <a:ea typeface="Times New Roman Bold"/>
                  <a:cs typeface="Times New Roman Bold"/>
                  <a:sym typeface="Times New Roman Bold"/>
                </a:rPr>
                <a:t>Ge</a:t>
              </a:r>
              <a:r>
                <a:rPr lang="en-US" b="true" sz="3500">
                  <a:solidFill>
                    <a:srgbClr val="000000"/>
                  </a:solidFill>
                  <a:latin typeface="Times New Roman Bold"/>
                  <a:ea typeface="Times New Roman Bold"/>
                  <a:cs typeface="Times New Roman Bold"/>
                  <a:sym typeface="Times New Roman Bold"/>
                </a:rPr>
                <a:t>nerate meaningful business KPIs </a:t>
              </a:r>
            </a:p>
          </p:txBody>
        </p:sp>
      </p:grpSp>
      <p:grpSp>
        <p:nvGrpSpPr>
          <p:cNvPr name="Group 18" id="18"/>
          <p:cNvGrpSpPr/>
          <p:nvPr/>
        </p:nvGrpSpPr>
        <p:grpSpPr>
          <a:xfrm rot="0">
            <a:off x="7552125" y="6442140"/>
            <a:ext cx="8771927" cy="1094030"/>
            <a:chOff x="0" y="0"/>
            <a:chExt cx="2310302" cy="288140"/>
          </a:xfrm>
        </p:grpSpPr>
        <p:sp>
          <p:nvSpPr>
            <p:cNvPr name="Freeform 19" id="19"/>
            <p:cNvSpPr/>
            <p:nvPr/>
          </p:nvSpPr>
          <p:spPr>
            <a:xfrm flipH="false" flipV="false" rot="0">
              <a:off x="0" y="0"/>
              <a:ext cx="2310302" cy="288140"/>
            </a:xfrm>
            <a:custGeom>
              <a:avLst/>
              <a:gdLst/>
              <a:ahLst/>
              <a:cxnLst/>
              <a:rect r="r" b="b" t="t" l="l"/>
              <a:pathLst>
                <a:path h="288140" w="2310302">
                  <a:moveTo>
                    <a:pt x="0" y="0"/>
                  </a:moveTo>
                  <a:lnTo>
                    <a:pt x="2310302" y="0"/>
                  </a:lnTo>
                  <a:lnTo>
                    <a:pt x="2310302" y="288140"/>
                  </a:lnTo>
                  <a:lnTo>
                    <a:pt x="0" y="288140"/>
                  </a:lnTo>
                  <a:close/>
                </a:path>
              </a:pathLst>
            </a:custGeom>
            <a:solidFill>
              <a:srgbClr val="BBC8B1"/>
            </a:solidFill>
          </p:spPr>
        </p:sp>
        <p:sp>
          <p:nvSpPr>
            <p:cNvPr name="TextBox 20" id="20"/>
            <p:cNvSpPr txBox="true"/>
            <p:nvPr/>
          </p:nvSpPr>
          <p:spPr>
            <a:xfrm>
              <a:off x="0" y="-95250"/>
              <a:ext cx="2310302" cy="383390"/>
            </a:xfrm>
            <a:prstGeom prst="rect">
              <a:avLst/>
            </a:prstGeom>
          </p:spPr>
          <p:txBody>
            <a:bodyPr anchor="ctr" rtlCol="false" tIns="50800" lIns="50800" bIns="50800" rIns="50800"/>
            <a:lstStyle/>
            <a:p>
              <a:pPr algn="ctr" marL="755651" indent="-377825" lvl="1">
                <a:lnSpc>
                  <a:spcPts val="4900"/>
                </a:lnSpc>
                <a:buFont typeface="Arial"/>
                <a:buChar char="•"/>
              </a:pPr>
              <a:r>
                <a:rPr lang="en-US" b="true" sz="3500">
                  <a:solidFill>
                    <a:srgbClr val="000000"/>
                  </a:solidFill>
                  <a:latin typeface="Times New Roman Bold"/>
                  <a:ea typeface="Times New Roman Bold"/>
                  <a:cs typeface="Times New Roman Bold"/>
                  <a:sym typeface="Times New Roman Bold"/>
                </a:rPr>
                <a:t>Creat</a:t>
              </a:r>
              <a:r>
                <a:rPr lang="en-US" b="true" sz="3500">
                  <a:solidFill>
                    <a:srgbClr val="000000"/>
                  </a:solidFill>
                  <a:latin typeface="Times New Roman Bold"/>
                  <a:ea typeface="Times New Roman Bold"/>
                  <a:cs typeface="Times New Roman Bold"/>
                  <a:sym typeface="Times New Roman Bold"/>
                </a:rPr>
                <a:t>e interactive Power BI dashboards </a:t>
              </a:r>
            </a:p>
          </p:txBody>
        </p:sp>
      </p:grpSp>
      <p:grpSp>
        <p:nvGrpSpPr>
          <p:cNvPr name="Group 21" id="21"/>
          <p:cNvGrpSpPr/>
          <p:nvPr/>
        </p:nvGrpSpPr>
        <p:grpSpPr>
          <a:xfrm rot="0">
            <a:off x="7552125" y="7936220"/>
            <a:ext cx="10343702" cy="1251687"/>
            <a:chOff x="0" y="0"/>
            <a:chExt cx="2724267" cy="329663"/>
          </a:xfrm>
        </p:grpSpPr>
        <p:sp>
          <p:nvSpPr>
            <p:cNvPr name="Freeform 22" id="22"/>
            <p:cNvSpPr/>
            <p:nvPr/>
          </p:nvSpPr>
          <p:spPr>
            <a:xfrm flipH="false" flipV="false" rot="0">
              <a:off x="0" y="0"/>
              <a:ext cx="2724267" cy="329663"/>
            </a:xfrm>
            <a:custGeom>
              <a:avLst/>
              <a:gdLst/>
              <a:ahLst/>
              <a:cxnLst/>
              <a:rect r="r" b="b" t="t" l="l"/>
              <a:pathLst>
                <a:path h="329663" w="2724267">
                  <a:moveTo>
                    <a:pt x="0" y="0"/>
                  </a:moveTo>
                  <a:lnTo>
                    <a:pt x="2724267" y="0"/>
                  </a:lnTo>
                  <a:lnTo>
                    <a:pt x="2724267" y="329663"/>
                  </a:lnTo>
                  <a:lnTo>
                    <a:pt x="0" y="329663"/>
                  </a:lnTo>
                  <a:close/>
                </a:path>
              </a:pathLst>
            </a:custGeom>
            <a:solidFill>
              <a:srgbClr val="BBC8B1"/>
            </a:solidFill>
          </p:spPr>
        </p:sp>
        <p:sp>
          <p:nvSpPr>
            <p:cNvPr name="TextBox 23" id="23"/>
            <p:cNvSpPr txBox="true"/>
            <p:nvPr/>
          </p:nvSpPr>
          <p:spPr>
            <a:xfrm>
              <a:off x="0" y="-95250"/>
              <a:ext cx="2724267" cy="424913"/>
            </a:xfrm>
            <a:prstGeom prst="rect">
              <a:avLst/>
            </a:prstGeom>
          </p:spPr>
          <p:txBody>
            <a:bodyPr anchor="ctr" rtlCol="false" tIns="50800" lIns="50800" bIns="50800" rIns="50800"/>
            <a:lstStyle/>
            <a:p>
              <a:pPr algn="ctr" marL="755651" indent="-377825" lvl="1">
                <a:lnSpc>
                  <a:spcPts val="4900"/>
                </a:lnSpc>
                <a:buFont typeface="Arial"/>
                <a:buChar char="•"/>
              </a:pPr>
              <a:r>
                <a:rPr lang="en-US" b="true" sz="3500">
                  <a:solidFill>
                    <a:srgbClr val="000000"/>
                  </a:solidFill>
                  <a:latin typeface="Times New Roman Bold"/>
                  <a:ea typeface="Times New Roman Bold"/>
                  <a:cs typeface="Times New Roman Bold"/>
                  <a:sym typeface="Times New Roman Bold"/>
                </a:rPr>
                <a:t>Demonstr</a:t>
              </a:r>
              <a:r>
                <a:rPr lang="en-US" b="true" sz="3500">
                  <a:solidFill>
                    <a:srgbClr val="000000"/>
                  </a:solidFill>
                  <a:latin typeface="Times New Roman Bold"/>
                  <a:ea typeface="Times New Roman Bold"/>
                  <a:cs typeface="Times New Roman Bold"/>
                  <a:sym typeface="Times New Roman Bold"/>
                </a:rPr>
                <a:t>ate real-world ETL and orchestration</a:t>
              </a:r>
            </a:p>
          </p:txBody>
        </p:sp>
      </p:gr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32901" y="1486846"/>
            <a:ext cx="18750566" cy="11174045"/>
            <a:chOff x="0" y="0"/>
            <a:chExt cx="4938421" cy="2942958"/>
          </a:xfrm>
        </p:grpSpPr>
        <p:sp>
          <p:nvSpPr>
            <p:cNvPr name="Freeform 3" id="3"/>
            <p:cNvSpPr/>
            <p:nvPr/>
          </p:nvSpPr>
          <p:spPr>
            <a:xfrm flipH="false" flipV="false" rot="0">
              <a:off x="0" y="0"/>
              <a:ext cx="4938421" cy="2942958"/>
            </a:xfrm>
            <a:custGeom>
              <a:avLst/>
              <a:gdLst/>
              <a:ahLst/>
              <a:cxnLst/>
              <a:rect r="r" b="b" t="t" l="l"/>
              <a:pathLst>
                <a:path h="2942958" w="4938421">
                  <a:moveTo>
                    <a:pt x="0" y="0"/>
                  </a:moveTo>
                  <a:lnTo>
                    <a:pt x="4938421" y="0"/>
                  </a:lnTo>
                  <a:lnTo>
                    <a:pt x="4938421" y="2942958"/>
                  </a:lnTo>
                  <a:lnTo>
                    <a:pt x="0" y="2942958"/>
                  </a:lnTo>
                  <a:close/>
                </a:path>
              </a:pathLst>
            </a:custGeom>
            <a:solidFill>
              <a:srgbClr val="EAEBE9"/>
            </a:solidFill>
          </p:spPr>
        </p:sp>
        <p:sp>
          <p:nvSpPr>
            <p:cNvPr name="TextBox 4" id="4"/>
            <p:cNvSpPr txBox="true"/>
            <p:nvPr/>
          </p:nvSpPr>
          <p:spPr>
            <a:xfrm>
              <a:off x="0" y="-57150"/>
              <a:ext cx="4938421" cy="3000108"/>
            </a:xfrm>
            <a:prstGeom prst="rect">
              <a:avLst/>
            </a:prstGeom>
          </p:spPr>
          <p:txBody>
            <a:bodyPr anchor="ctr" rtlCol="false" tIns="50800" lIns="50800" bIns="50800" rIns="50800"/>
            <a:lstStyle/>
            <a:p>
              <a:pPr algn="ctr">
                <a:lnSpc>
                  <a:spcPts val="3012"/>
                </a:lnSpc>
              </a:pPr>
            </a:p>
          </p:txBody>
        </p:sp>
      </p:grpSp>
      <p:sp>
        <p:nvSpPr>
          <p:cNvPr name="TextBox 5" id="5"/>
          <p:cNvSpPr txBox="true"/>
          <p:nvPr/>
        </p:nvSpPr>
        <p:spPr>
          <a:xfrm rot="0">
            <a:off x="1384944" y="418154"/>
            <a:ext cx="5166530" cy="1066800"/>
          </a:xfrm>
          <a:prstGeom prst="rect">
            <a:avLst/>
          </a:prstGeom>
        </p:spPr>
        <p:txBody>
          <a:bodyPr anchor="t" rtlCol="false" tIns="0" lIns="0" bIns="0" rIns="0">
            <a:spAutoFit/>
          </a:bodyPr>
          <a:lstStyle/>
          <a:p>
            <a:pPr algn="l"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DATA SCOPE</a:t>
            </a:r>
          </a:p>
        </p:txBody>
      </p:sp>
      <p:sp>
        <p:nvSpPr>
          <p:cNvPr name="TextBox 6" id="6"/>
          <p:cNvSpPr txBox="true"/>
          <p:nvPr/>
        </p:nvSpPr>
        <p:spPr>
          <a:xfrm rot="0">
            <a:off x="1142512" y="1998345"/>
            <a:ext cx="16399739" cy="8288655"/>
          </a:xfrm>
          <a:prstGeom prst="rect">
            <a:avLst/>
          </a:prstGeom>
        </p:spPr>
        <p:txBody>
          <a:bodyPr anchor="t" rtlCol="false" tIns="0" lIns="0" bIns="0" rIns="0">
            <a:spAutoFit/>
          </a:bodyPr>
          <a:lstStyle/>
          <a:p>
            <a:pPr algn="just" marL="755651" indent="-377825" lvl="1">
              <a:lnSpc>
                <a:spcPts val="3885"/>
              </a:lnSpc>
              <a:buFont typeface="Arial"/>
              <a:buChar char="•"/>
            </a:pPr>
            <a:r>
              <a:rPr lang="en-US" b="true" sz="3500">
                <a:solidFill>
                  <a:srgbClr val="000000"/>
                </a:solidFill>
                <a:latin typeface="Times New Roman Bold"/>
                <a:ea typeface="Times New Roman Bold"/>
                <a:cs typeface="Times New Roman Bold"/>
                <a:sym typeface="Times New Roman Bold"/>
              </a:rPr>
              <a:t>Order-Level Sales Transactions</a:t>
            </a:r>
          </a:p>
          <a:p>
            <a:pPr algn="just">
              <a:lnSpc>
                <a:spcPts val="3885"/>
              </a:lnSpc>
            </a:pPr>
            <a:r>
              <a:rPr lang="en-US" sz="3500">
                <a:solidFill>
                  <a:srgbClr val="000000"/>
                </a:solidFill>
                <a:latin typeface="Times New Roman"/>
                <a:ea typeface="Times New Roman"/>
                <a:cs typeface="Times New Roman"/>
                <a:sym typeface="Times New Roman"/>
              </a:rPr>
              <a:t>The project processes detailed </a:t>
            </a:r>
            <a:r>
              <a:rPr lang="en-US" sz="3500">
                <a:solidFill>
                  <a:srgbClr val="000000"/>
                </a:solidFill>
                <a:latin typeface="Times New Roman"/>
                <a:ea typeface="Times New Roman"/>
                <a:cs typeface="Times New Roman"/>
                <a:sym typeface="Times New Roman"/>
              </a:rPr>
              <a:t>order-level data including order ID, order date, quantity sold, unit price, discounts, and revenue, enabling accurate sales trend and performance analysis.</a:t>
            </a:r>
          </a:p>
          <a:p>
            <a:pPr algn="just">
              <a:lnSpc>
                <a:spcPts val="3885"/>
              </a:lnSpc>
            </a:pPr>
          </a:p>
          <a:p>
            <a:pPr algn="just" marL="755651" indent="-377825" lvl="1">
              <a:lnSpc>
                <a:spcPts val="3885"/>
              </a:lnSpc>
              <a:buFont typeface="Arial"/>
              <a:buChar char="•"/>
            </a:pPr>
            <a:r>
              <a:rPr lang="en-US" b="true" sz="3500">
                <a:solidFill>
                  <a:srgbClr val="000000"/>
                </a:solidFill>
                <a:latin typeface="Times New Roman Bold"/>
                <a:ea typeface="Times New Roman Bold"/>
                <a:cs typeface="Times New Roman Bold"/>
                <a:sym typeface="Times New Roman Bold"/>
              </a:rPr>
              <a:t>Product &amp; Category Details</a:t>
            </a:r>
          </a:p>
          <a:p>
            <a:pPr algn="just">
              <a:lnSpc>
                <a:spcPts val="3885"/>
              </a:lnSpc>
            </a:pPr>
            <a:r>
              <a:rPr lang="en-US" sz="3500">
                <a:solidFill>
                  <a:srgbClr val="000000"/>
                </a:solidFill>
                <a:latin typeface="Times New Roman"/>
                <a:ea typeface="Times New Roman"/>
                <a:cs typeface="Times New Roman"/>
                <a:sym typeface="Times New Roman"/>
              </a:rPr>
              <a:t>Product master data such as product ID, product name, category, sub-category, and cost information is used to analyze product performance, profitability, and category-level trends.</a:t>
            </a:r>
          </a:p>
          <a:p>
            <a:pPr algn="just">
              <a:lnSpc>
                <a:spcPts val="3885"/>
              </a:lnSpc>
            </a:pPr>
          </a:p>
          <a:p>
            <a:pPr algn="just" marL="755651" indent="-377825" lvl="1">
              <a:lnSpc>
                <a:spcPts val="3885"/>
              </a:lnSpc>
              <a:buFont typeface="Arial"/>
              <a:buChar char="•"/>
            </a:pPr>
            <a:r>
              <a:rPr lang="en-US" b="true" sz="3500">
                <a:solidFill>
                  <a:srgbClr val="000000"/>
                </a:solidFill>
                <a:latin typeface="Times New Roman Bold"/>
                <a:ea typeface="Times New Roman Bold"/>
                <a:cs typeface="Times New Roman Bold"/>
                <a:sym typeface="Times New Roman Bold"/>
              </a:rPr>
              <a:t>Regional &amp; Store-Level Sales Data</a:t>
            </a:r>
          </a:p>
          <a:p>
            <a:pPr algn="just">
              <a:lnSpc>
                <a:spcPts val="3885"/>
              </a:lnSpc>
            </a:pPr>
            <a:r>
              <a:rPr lang="en-US" sz="3500">
                <a:solidFill>
                  <a:srgbClr val="000000"/>
                </a:solidFill>
                <a:latin typeface="Times New Roman"/>
                <a:ea typeface="Times New Roman"/>
                <a:cs typeface="Times New Roman"/>
                <a:sym typeface="Times New Roman"/>
              </a:rPr>
              <a:t>Store and region information is integrated with sales and returns data to evaluate regional performance, store-level revenue, return rates, and net sales contribution.</a:t>
            </a:r>
          </a:p>
          <a:p>
            <a:pPr algn="just">
              <a:lnSpc>
                <a:spcPts val="3885"/>
              </a:lnSpc>
            </a:pPr>
          </a:p>
          <a:p>
            <a:pPr algn="just" marL="755651" indent="-377825" lvl="1">
              <a:lnSpc>
                <a:spcPts val="3885"/>
              </a:lnSpc>
              <a:buFont typeface="Arial"/>
              <a:buChar char="•"/>
            </a:pPr>
            <a:r>
              <a:rPr lang="en-US" b="true" sz="3500">
                <a:solidFill>
                  <a:srgbClr val="000000"/>
                </a:solidFill>
                <a:latin typeface="Times New Roman Bold"/>
                <a:ea typeface="Times New Roman Bold"/>
                <a:cs typeface="Times New Roman Bold"/>
                <a:sym typeface="Times New Roman Bold"/>
              </a:rPr>
              <a:t>Customer Purchase Behavior</a:t>
            </a:r>
          </a:p>
          <a:p>
            <a:pPr algn="just">
              <a:lnSpc>
                <a:spcPts val="3885"/>
              </a:lnSpc>
            </a:pPr>
            <a:r>
              <a:rPr lang="en-US" sz="3500">
                <a:solidFill>
                  <a:srgbClr val="000000"/>
                </a:solidFill>
                <a:latin typeface="Times New Roman"/>
                <a:ea typeface="Times New Roman"/>
                <a:cs typeface="Times New Roman"/>
                <a:sym typeface="Times New Roman"/>
              </a:rPr>
              <a:t>Customer data including customer ID, segment, purchase frequency, and total spend is analyzed to understand customer buying patterns, segmentation, and overall customer value.</a:t>
            </a:r>
          </a:p>
          <a:p>
            <a:pPr algn="just">
              <a:lnSpc>
                <a:spcPts val="3885"/>
              </a:lnSpc>
            </a:pP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578983" y="1759428"/>
            <a:ext cx="11301259" cy="2288505"/>
          </a:xfrm>
          <a:custGeom>
            <a:avLst/>
            <a:gdLst/>
            <a:ahLst/>
            <a:cxnLst/>
            <a:rect r="r" b="b" t="t" l="l"/>
            <a:pathLst>
              <a:path h="2288505" w="11301259">
                <a:moveTo>
                  <a:pt x="0" y="0"/>
                </a:moveTo>
                <a:lnTo>
                  <a:pt x="11301259" y="0"/>
                </a:lnTo>
                <a:lnTo>
                  <a:pt x="11301259" y="2288505"/>
                </a:lnTo>
                <a:lnTo>
                  <a:pt x="0" y="2288505"/>
                </a:lnTo>
                <a:lnTo>
                  <a:pt x="0" y="0"/>
                </a:lnTo>
                <a:close/>
              </a:path>
            </a:pathLst>
          </a:custGeom>
          <a:blipFill>
            <a:blip r:embed="rId2"/>
            <a:stretch>
              <a:fillRect l="0" t="0" r="0" b="0"/>
            </a:stretch>
          </a:blipFill>
        </p:spPr>
      </p:sp>
      <p:sp>
        <p:nvSpPr>
          <p:cNvPr name="Freeform 3" id="3"/>
          <p:cNvSpPr/>
          <p:nvPr/>
        </p:nvSpPr>
        <p:spPr>
          <a:xfrm flipH="false" flipV="false" rot="0">
            <a:off x="578983" y="4406459"/>
            <a:ext cx="11301259" cy="2486277"/>
          </a:xfrm>
          <a:custGeom>
            <a:avLst/>
            <a:gdLst/>
            <a:ahLst/>
            <a:cxnLst/>
            <a:rect r="r" b="b" t="t" l="l"/>
            <a:pathLst>
              <a:path h="2486277" w="11301259">
                <a:moveTo>
                  <a:pt x="0" y="0"/>
                </a:moveTo>
                <a:lnTo>
                  <a:pt x="11301259" y="0"/>
                </a:lnTo>
                <a:lnTo>
                  <a:pt x="11301259" y="2486277"/>
                </a:lnTo>
                <a:lnTo>
                  <a:pt x="0" y="2486277"/>
                </a:lnTo>
                <a:lnTo>
                  <a:pt x="0" y="0"/>
                </a:lnTo>
                <a:close/>
              </a:path>
            </a:pathLst>
          </a:custGeom>
          <a:blipFill>
            <a:blip r:embed="rId3"/>
            <a:stretch>
              <a:fillRect l="0" t="0" r="0" b="0"/>
            </a:stretch>
          </a:blipFill>
        </p:spPr>
      </p:sp>
      <p:sp>
        <p:nvSpPr>
          <p:cNvPr name="Freeform 4" id="4"/>
          <p:cNvSpPr/>
          <p:nvPr/>
        </p:nvSpPr>
        <p:spPr>
          <a:xfrm flipH="false" flipV="false" rot="0">
            <a:off x="578983" y="7168961"/>
            <a:ext cx="11301259" cy="2924201"/>
          </a:xfrm>
          <a:custGeom>
            <a:avLst/>
            <a:gdLst/>
            <a:ahLst/>
            <a:cxnLst/>
            <a:rect r="r" b="b" t="t" l="l"/>
            <a:pathLst>
              <a:path h="2924201" w="11301259">
                <a:moveTo>
                  <a:pt x="0" y="0"/>
                </a:moveTo>
                <a:lnTo>
                  <a:pt x="11301259" y="0"/>
                </a:lnTo>
                <a:lnTo>
                  <a:pt x="11301259" y="2924201"/>
                </a:lnTo>
                <a:lnTo>
                  <a:pt x="0" y="2924201"/>
                </a:lnTo>
                <a:lnTo>
                  <a:pt x="0" y="0"/>
                </a:lnTo>
                <a:close/>
              </a:path>
            </a:pathLst>
          </a:custGeom>
          <a:blipFill>
            <a:blip r:embed="rId4"/>
            <a:stretch>
              <a:fillRect l="0" t="0" r="0" b="0"/>
            </a:stretch>
          </a:blipFill>
        </p:spPr>
      </p:sp>
      <p:sp>
        <p:nvSpPr>
          <p:cNvPr name="TextBox 5" id="5"/>
          <p:cNvSpPr txBox="true"/>
          <p:nvPr/>
        </p:nvSpPr>
        <p:spPr>
          <a:xfrm rot="0">
            <a:off x="329634" y="413726"/>
            <a:ext cx="9156908" cy="1066800"/>
          </a:xfrm>
          <a:prstGeom prst="rect">
            <a:avLst/>
          </a:prstGeom>
        </p:spPr>
        <p:txBody>
          <a:bodyPr anchor="t" rtlCol="false" tIns="0" lIns="0" bIns="0" rIns="0">
            <a:spAutoFit/>
          </a:bodyPr>
          <a:lstStyle/>
          <a:p>
            <a:pPr algn="ctr"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DATASETS USED</a:t>
            </a:r>
          </a:p>
        </p:txBody>
      </p:sp>
      <p:sp>
        <p:nvSpPr>
          <p:cNvPr name="TextBox 6" id="6"/>
          <p:cNvSpPr txBox="true"/>
          <p:nvPr/>
        </p:nvSpPr>
        <p:spPr>
          <a:xfrm rot="0">
            <a:off x="12128904" y="2039801"/>
            <a:ext cx="6159096" cy="1670610"/>
          </a:xfrm>
          <a:prstGeom prst="rect">
            <a:avLst/>
          </a:prstGeom>
        </p:spPr>
        <p:txBody>
          <a:bodyPr anchor="t" rtlCol="false" tIns="0" lIns="0" bIns="0" rIns="0">
            <a:spAutoFit/>
          </a:bodyPr>
          <a:lstStyle/>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10150 rows</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Order-level transactional data</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Contains order ID, date, product, quantity, pricing, discounts, and revenue-related fields</a:t>
            </a:r>
          </a:p>
        </p:txBody>
      </p:sp>
      <p:sp>
        <p:nvSpPr>
          <p:cNvPr name="TextBox 7" id="7"/>
          <p:cNvSpPr txBox="true"/>
          <p:nvPr/>
        </p:nvSpPr>
        <p:spPr>
          <a:xfrm rot="0">
            <a:off x="12128904" y="4813745"/>
            <a:ext cx="6159096" cy="1670610"/>
          </a:xfrm>
          <a:prstGeom prst="rect">
            <a:avLst/>
          </a:prstGeom>
        </p:spPr>
        <p:txBody>
          <a:bodyPr anchor="t" rtlCol="false" tIns="0" lIns="0" bIns="0" rIns="0">
            <a:spAutoFit/>
          </a:bodyPr>
          <a:lstStyle/>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3</a:t>
            </a:r>
            <a:r>
              <a:rPr lang="en-US" sz="2356">
                <a:solidFill>
                  <a:srgbClr val="000000"/>
                </a:solidFill>
                <a:latin typeface="Times New Roman"/>
                <a:ea typeface="Times New Roman"/>
                <a:cs typeface="Times New Roman"/>
                <a:sym typeface="Times New Roman"/>
              </a:rPr>
              <a:t>06 rows</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Product master data</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Includes product name, category, sub-category, cost price, and selling price</a:t>
            </a:r>
          </a:p>
        </p:txBody>
      </p:sp>
      <p:sp>
        <p:nvSpPr>
          <p:cNvPr name="TextBox 8" id="8"/>
          <p:cNvSpPr txBox="true"/>
          <p:nvPr/>
        </p:nvSpPr>
        <p:spPr>
          <a:xfrm rot="0">
            <a:off x="12128904" y="7587690"/>
            <a:ext cx="6159096" cy="1670610"/>
          </a:xfrm>
          <a:prstGeom prst="rect">
            <a:avLst/>
          </a:prstGeom>
        </p:spPr>
        <p:txBody>
          <a:bodyPr anchor="t" rtlCol="false" tIns="0" lIns="0" bIns="0" rIns="0">
            <a:spAutoFit/>
          </a:bodyPr>
          <a:lstStyle/>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2</a:t>
            </a:r>
            <a:r>
              <a:rPr lang="en-US" sz="2356">
                <a:solidFill>
                  <a:srgbClr val="000000"/>
                </a:solidFill>
                <a:latin typeface="Times New Roman"/>
                <a:ea typeface="Times New Roman"/>
                <a:cs typeface="Times New Roman"/>
                <a:sym typeface="Times New Roman"/>
              </a:rPr>
              <a:t>040 rows</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Customer master data</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Includes customer ID, segment, and demographic attributes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45543" y="295281"/>
            <a:ext cx="11301259" cy="2853568"/>
          </a:xfrm>
          <a:custGeom>
            <a:avLst/>
            <a:gdLst/>
            <a:ahLst/>
            <a:cxnLst/>
            <a:rect r="r" b="b" t="t" l="l"/>
            <a:pathLst>
              <a:path h="2853568" w="11301259">
                <a:moveTo>
                  <a:pt x="0" y="0"/>
                </a:moveTo>
                <a:lnTo>
                  <a:pt x="11301259" y="0"/>
                </a:lnTo>
                <a:lnTo>
                  <a:pt x="11301259" y="2853568"/>
                </a:lnTo>
                <a:lnTo>
                  <a:pt x="0" y="2853568"/>
                </a:lnTo>
                <a:lnTo>
                  <a:pt x="0" y="0"/>
                </a:lnTo>
                <a:close/>
              </a:path>
            </a:pathLst>
          </a:custGeom>
          <a:blipFill>
            <a:blip r:embed="rId2"/>
            <a:stretch>
              <a:fillRect l="0" t="0" r="0" b="0"/>
            </a:stretch>
          </a:blipFill>
        </p:spPr>
      </p:sp>
      <p:sp>
        <p:nvSpPr>
          <p:cNvPr name="Freeform 3" id="3"/>
          <p:cNvSpPr/>
          <p:nvPr/>
        </p:nvSpPr>
        <p:spPr>
          <a:xfrm flipH="false" flipV="false" rot="0">
            <a:off x="12128904" y="569790"/>
            <a:ext cx="5800376" cy="4573710"/>
          </a:xfrm>
          <a:custGeom>
            <a:avLst/>
            <a:gdLst/>
            <a:ahLst/>
            <a:cxnLst/>
            <a:rect r="r" b="b" t="t" l="l"/>
            <a:pathLst>
              <a:path h="4573710" w="5800376">
                <a:moveTo>
                  <a:pt x="0" y="0"/>
                </a:moveTo>
                <a:lnTo>
                  <a:pt x="5800376" y="0"/>
                </a:lnTo>
                <a:lnTo>
                  <a:pt x="5800376" y="4573710"/>
                </a:lnTo>
                <a:lnTo>
                  <a:pt x="0" y="4573710"/>
                </a:lnTo>
                <a:lnTo>
                  <a:pt x="0" y="0"/>
                </a:lnTo>
                <a:close/>
              </a:path>
            </a:pathLst>
          </a:custGeom>
          <a:blipFill>
            <a:blip r:embed="rId3"/>
            <a:stretch>
              <a:fillRect l="0" t="0" r="0" b="0"/>
            </a:stretch>
          </a:blipFill>
        </p:spPr>
      </p:sp>
      <p:sp>
        <p:nvSpPr>
          <p:cNvPr name="Freeform 4" id="4"/>
          <p:cNvSpPr/>
          <p:nvPr/>
        </p:nvSpPr>
        <p:spPr>
          <a:xfrm flipH="false" flipV="false" rot="0">
            <a:off x="345543" y="4856384"/>
            <a:ext cx="11225004" cy="3804351"/>
          </a:xfrm>
          <a:custGeom>
            <a:avLst/>
            <a:gdLst/>
            <a:ahLst/>
            <a:cxnLst/>
            <a:rect r="r" b="b" t="t" l="l"/>
            <a:pathLst>
              <a:path h="3804351" w="11225004">
                <a:moveTo>
                  <a:pt x="0" y="0"/>
                </a:moveTo>
                <a:lnTo>
                  <a:pt x="11225004" y="0"/>
                </a:lnTo>
                <a:lnTo>
                  <a:pt x="11225004" y="3804351"/>
                </a:lnTo>
                <a:lnTo>
                  <a:pt x="0" y="3804351"/>
                </a:lnTo>
                <a:lnTo>
                  <a:pt x="0" y="0"/>
                </a:lnTo>
                <a:close/>
              </a:path>
            </a:pathLst>
          </a:custGeom>
          <a:blipFill>
            <a:blip r:embed="rId4"/>
            <a:stretch>
              <a:fillRect l="0" t="0" r="0" b="0"/>
            </a:stretch>
          </a:blipFill>
        </p:spPr>
      </p:sp>
      <p:sp>
        <p:nvSpPr>
          <p:cNvPr name="TextBox 5" id="5"/>
          <p:cNvSpPr txBox="true"/>
          <p:nvPr/>
        </p:nvSpPr>
        <p:spPr>
          <a:xfrm rot="0">
            <a:off x="11949543" y="5425441"/>
            <a:ext cx="6159096" cy="1252280"/>
          </a:xfrm>
          <a:prstGeom prst="rect">
            <a:avLst/>
          </a:prstGeom>
        </p:spPr>
        <p:txBody>
          <a:bodyPr anchor="t" rtlCol="false" tIns="0" lIns="0" bIns="0" rIns="0">
            <a:spAutoFit/>
          </a:bodyPr>
          <a:lstStyle/>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48 </a:t>
            </a:r>
            <a:r>
              <a:rPr lang="en-US" sz="2356">
                <a:solidFill>
                  <a:srgbClr val="000000"/>
                </a:solidFill>
                <a:latin typeface="Times New Roman"/>
                <a:ea typeface="Times New Roman"/>
                <a:cs typeface="Times New Roman"/>
                <a:sym typeface="Times New Roman"/>
              </a:rPr>
              <a:t>rows</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Sales targets defined by region and time period</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Used for target vs actual performance analysis</a:t>
            </a:r>
          </a:p>
        </p:txBody>
      </p:sp>
      <p:sp>
        <p:nvSpPr>
          <p:cNvPr name="TextBox 6" id="6"/>
          <p:cNvSpPr txBox="true"/>
          <p:nvPr/>
        </p:nvSpPr>
        <p:spPr>
          <a:xfrm rot="0">
            <a:off x="777666" y="8803610"/>
            <a:ext cx="6159096" cy="1252280"/>
          </a:xfrm>
          <a:prstGeom prst="rect">
            <a:avLst/>
          </a:prstGeom>
        </p:spPr>
        <p:txBody>
          <a:bodyPr anchor="t" rtlCol="false" tIns="0" lIns="0" bIns="0" rIns="0">
            <a:spAutoFit/>
          </a:bodyPr>
          <a:lstStyle/>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8</a:t>
            </a:r>
            <a:r>
              <a:rPr lang="en-US" sz="2356">
                <a:solidFill>
                  <a:srgbClr val="000000"/>
                </a:solidFill>
                <a:latin typeface="Times New Roman"/>
                <a:ea typeface="Times New Roman"/>
                <a:cs typeface="Times New Roman"/>
                <a:sym typeface="Times New Roman"/>
              </a:rPr>
              <a:t>00 rows</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Returned order records</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Includes return reason and refund amount</a:t>
            </a:r>
          </a:p>
        </p:txBody>
      </p:sp>
      <p:sp>
        <p:nvSpPr>
          <p:cNvPr name="TextBox 7" id="7"/>
          <p:cNvSpPr txBox="true"/>
          <p:nvPr/>
        </p:nvSpPr>
        <p:spPr>
          <a:xfrm rot="0">
            <a:off x="777666" y="3404599"/>
            <a:ext cx="6159096" cy="1252280"/>
          </a:xfrm>
          <a:prstGeom prst="rect">
            <a:avLst/>
          </a:prstGeom>
        </p:spPr>
        <p:txBody>
          <a:bodyPr anchor="t" rtlCol="false" tIns="0" lIns="0" bIns="0" rIns="0">
            <a:spAutoFit/>
          </a:bodyPr>
          <a:lstStyle/>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50 rows</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Store and regional reference data</a:t>
            </a:r>
          </a:p>
          <a:p>
            <a:pPr algn="l" marL="508797" indent="-254399" lvl="1">
              <a:lnSpc>
                <a:spcPts val="3299"/>
              </a:lnSpc>
              <a:buFont typeface="Arial"/>
              <a:buChar char="•"/>
            </a:pPr>
            <a:r>
              <a:rPr lang="en-US" sz="2356">
                <a:solidFill>
                  <a:srgbClr val="000000"/>
                </a:solidFill>
                <a:latin typeface="Times New Roman"/>
                <a:ea typeface="Times New Roman"/>
                <a:cs typeface="Times New Roman"/>
                <a:sym typeface="Times New Roman"/>
              </a:rPr>
              <a:t>Maps stores to regions and locations</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453294" y="1291231"/>
            <a:ext cx="21006441" cy="9088161"/>
            <a:chOff x="0" y="0"/>
            <a:chExt cx="5532561" cy="2393590"/>
          </a:xfrm>
        </p:grpSpPr>
        <p:sp>
          <p:nvSpPr>
            <p:cNvPr name="Freeform 3" id="3"/>
            <p:cNvSpPr/>
            <p:nvPr/>
          </p:nvSpPr>
          <p:spPr>
            <a:xfrm flipH="false" flipV="false" rot="0">
              <a:off x="0" y="0"/>
              <a:ext cx="5532560" cy="2393590"/>
            </a:xfrm>
            <a:custGeom>
              <a:avLst/>
              <a:gdLst/>
              <a:ahLst/>
              <a:cxnLst/>
              <a:rect r="r" b="b" t="t" l="l"/>
              <a:pathLst>
                <a:path h="2393590" w="5532560">
                  <a:moveTo>
                    <a:pt x="0" y="0"/>
                  </a:moveTo>
                  <a:lnTo>
                    <a:pt x="5532560" y="0"/>
                  </a:lnTo>
                  <a:lnTo>
                    <a:pt x="5532560" y="2393590"/>
                  </a:lnTo>
                  <a:lnTo>
                    <a:pt x="0" y="2393590"/>
                  </a:lnTo>
                  <a:close/>
                </a:path>
              </a:pathLst>
            </a:custGeom>
            <a:solidFill>
              <a:srgbClr val="EAEBE9"/>
            </a:solidFill>
          </p:spPr>
        </p:sp>
        <p:sp>
          <p:nvSpPr>
            <p:cNvPr name="TextBox 4" id="4"/>
            <p:cNvSpPr txBox="true"/>
            <p:nvPr/>
          </p:nvSpPr>
          <p:spPr>
            <a:xfrm>
              <a:off x="0" y="-57150"/>
              <a:ext cx="5532561" cy="2450740"/>
            </a:xfrm>
            <a:prstGeom prst="rect">
              <a:avLst/>
            </a:prstGeom>
          </p:spPr>
          <p:txBody>
            <a:bodyPr anchor="ctr" rtlCol="false" tIns="50800" lIns="50800" bIns="50800" rIns="50800"/>
            <a:lstStyle/>
            <a:p>
              <a:pPr algn="ctr">
                <a:lnSpc>
                  <a:spcPts val="3012"/>
                </a:lnSpc>
              </a:pPr>
            </a:p>
          </p:txBody>
        </p:sp>
      </p:grpSp>
      <p:graphicFrame>
        <p:nvGraphicFramePr>
          <p:cNvPr name="Table 5" id="5"/>
          <p:cNvGraphicFramePr>
            <a:graphicFrameLocks noGrp="true"/>
          </p:cNvGraphicFramePr>
          <p:nvPr/>
        </p:nvGraphicFramePr>
        <p:xfrm>
          <a:off x="2716576" y="1397277"/>
          <a:ext cx="13030154" cy="8763000"/>
        </p:xfrm>
        <a:graphic>
          <a:graphicData uri="http://schemas.openxmlformats.org/drawingml/2006/table">
            <a:tbl>
              <a:tblPr/>
              <a:tblGrid>
                <a:gridCol w="4528317"/>
                <a:gridCol w="8501837"/>
              </a:tblGrid>
              <a:tr h="927960">
                <a:tc>
                  <a:txBody>
                    <a:bodyPr anchor="t" rtlCol="false"/>
                    <a:lstStyle/>
                    <a:p>
                      <a:pPr algn="ctr">
                        <a:lnSpc>
                          <a:spcPts val="3499"/>
                        </a:lnSpc>
                        <a:defRPr/>
                      </a:pPr>
                      <a:r>
                        <a:rPr lang="en-US" sz="2499" b="true">
                          <a:solidFill>
                            <a:srgbClr val="000000"/>
                          </a:solidFill>
                          <a:latin typeface="Times New Roman Bold"/>
                          <a:ea typeface="Times New Roman Bold"/>
                          <a:cs typeface="Times New Roman Bold"/>
                          <a:sym typeface="Times New Roman Bold"/>
                        </a:rPr>
                        <a:t>Tool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499"/>
                        </a:lnSpc>
                        <a:defRPr/>
                      </a:pPr>
                      <a:r>
                        <a:rPr lang="en-US" sz="2499" b="true">
                          <a:solidFill>
                            <a:srgbClr val="000000"/>
                          </a:solidFill>
                          <a:latin typeface="Times New Roman Bold"/>
                          <a:ea typeface="Times New Roman Bold"/>
                          <a:cs typeface="Times New Roman Bold"/>
                          <a:sym typeface="Times New Roman Bold"/>
                        </a:rPr>
                        <a:t>Why used in this project</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70560">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Python</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Used to implement ETL logic and data transformations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70560">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Pandas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Used for initial data handling and preprocessing</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70560">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Azure Databricks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Used for scalable Spark-based data processing</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70560">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PySpark</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Used to perform distributed data transformations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70560">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Spark SQL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Used for SQL-based analytics and table creation</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70560">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Delta Tables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Used to provide reliable storage with ACID transactions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70560">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Apache Airflow</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Used to orchestrate and automate the ETL pipeline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70560">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Power BI</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Used to visualize business KPIs and analytics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70560">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GitHub</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079"/>
                        </a:lnSpc>
                        <a:defRPr/>
                      </a:pPr>
                      <a:r>
                        <a:rPr lang="en-US" sz="2199">
                          <a:solidFill>
                            <a:srgbClr val="000000"/>
                          </a:solidFill>
                          <a:latin typeface="Times New Roman"/>
                          <a:ea typeface="Times New Roman"/>
                          <a:cs typeface="Times New Roman"/>
                          <a:sym typeface="Times New Roman"/>
                        </a:rPr>
                        <a:t>Used for version control and project collaboration</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TextBox 6" id="6"/>
          <p:cNvSpPr txBox="true"/>
          <p:nvPr/>
        </p:nvSpPr>
        <p:spPr>
          <a:xfrm rot="0">
            <a:off x="0" y="224431"/>
            <a:ext cx="12647557" cy="1066800"/>
          </a:xfrm>
          <a:prstGeom prst="rect">
            <a:avLst/>
          </a:prstGeom>
        </p:spPr>
        <p:txBody>
          <a:bodyPr anchor="t" rtlCol="false" tIns="0" lIns="0" bIns="0" rIns="0">
            <a:spAutoFit/>
          </a:bodyPr>
          <a:lstStyle/>
          <a:p>
            <a:pPr algn="ctr"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TECH STACK AND WHY?</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559231" y="1485900"/>
            <a:ext cx="13169537" cy="8573308"/>
          </a:xfrm>
          <a:custGeom>
            <a:avLst/>
            <a:gdLst/>
            <a:ahLst/>
            <a:cxnLst/>
            <a:rect r="r" b="b" t="t" l="l"/>
            <a:pathLst>
              <a:path h="8573308" w="13169537">
                <a:moveTo>
                  <a:pt x="0" y="0"/>
                </a:moveTo>
                <a:lnTo>
                  <a:pt x="13169538" y="0"/>
                </a:lnTo>
                <a:lnTo>
                  <a:pt x="13169538" y="8573308"/>
                </a:lnTo>
                <a:lnTo>
                  <a:pt x="0" y="8573308"/>
                </a:lnTo>
                <a:lnTo>
                  <a:pt x="0" y="0"/>
                </a:lnTo>
                <a:close/>
              </a:path>
            </a:pathLst>
          </a:custGeom>
          <a:blipFill>
            <a:blip r:embed="rId2"/>
            <a:stretch>
              <a:fillRect l="0" t="-2651" r="-8838" b="-8737"/>
            </a:stretch>
          </a:blipFill>
        </p:spPr>
      </p:sp>
      <p:sp>
        <p:nvSpPr>
          <p:cNvPr name="TextBox 3" id="3"/>
          <p:cNvSpPr txBox="true"/>
          <p:nvPr/>
        </p:nvSpPr>
        <p:spPr>
          <a:xfrm rot="0">
            <a:off x="0" y="419100"/>
            <a:ext cx="13711364" cy="1066800"/>
          </a:xfrm>
          <a:prstGeom prst="rect">
            <a:avLst/>
          </a:prstGeom>
        </p:spPr>
        <p:txBody>
          <a:bodyPr anchor="t" rtlCol="false" tIns="0" lIns="0" bIns="0" rIns="0">
            <a:spAutoFit/>
          </a:bodyPr>
          <a:lstStyle/>
          <a:p>
            <a:pPr algn="ctr"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ARCHITECTURE OVERVIEW</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7591"/>
            <a:ext cx="14052397" cy="1780909"/>
            <a:chOff x="0" y="0"/>
            <a:chExt cx="3701043" cy="469046"/>
          </a:xfrm>
        </p:grpSpPr>
        <p:sp>
          <p:nvSpPr>
            <p:cNvPr name="Freeform 3" id="3"/>
            <p:cNvSpPr/>
            <p:nvPr/>
          </p:nvSpPr>
          <p:spPr>
            <a:xfrm flipH="false" flipV="false" rot="0">
              <a:off x="0" y="0"/>
              <a:ext cx="3701043" cy="469046"/>
            </a:xfrm>
            <a:custGeom>
              <a:avLst/>
              <a:gdLst/>
              <a:ahLst/>
              <a:cxnLst/>
              <a:rect r="r" b="b" t="t" l="l"/>
              <a:pathLst>
                <a:path h="469046" w="3701043">
                  <a:moveTo>
                    <a:pt x="0" y="0"/>
                  </a:moveTo>
                  <a:lnTo>
                    <a:pt x="3701043" y="0"/>
                  </a:lnTo>
                  <a:lnTo>
                    <a:pt x="3701043" y="469046"/>
                  </a:lnTo>
                  <a:lnTo>
                    <a:pt x="0" y="469046"/>
                  </a:lnTo>
                  <a:close/>
                </a:path>
              </a:pathLst>
            </a:custGeom>
            <a:solidFill>
              <a:srgbClr val="EAEBE9"/>
            </a:solidFill>
          </p:spPr>
        </p:sp>
        <p:sp>
          <p:nvSpPr>
            <p:cNvPr name="TextBox 4" id="4"/>
            <p:cNvSpPr txBox="true"/>
            <p:nvPr/>
          </p:nvSpPr>
          <p:spPr>
            <a:xfrm>
              <a:off x="0" y="-57150"/>
              <a:ext cx="3701043" cy="526196"/>
            </a:xfrm>
            <a:prstGeom prst="rect">
              <a:avLst/>
            </a:prstGeom>
          </p:spPr>
          <p:txBody>
            <a:bodyPr anchor="ctr" rtlCol="false" tIns="50800" lIns="50800" bIns="50800" rIns="50800"/>
            <a:lstStyle/>
            <a:p>
              <a:pPr algn="ctr">
                <a:lnSpc>
                  <a:spcPts val="3012"/>
                </a:lnSpc>
              </a:pPr>
            </a:p>
          </p:txBody>
        </p:sp>
      </p:grpSp>
      <p:grpSp>
        <p:nvGrpSpPr>
          <p:cNvPr name="Group 5" id="5"/>
          <p:cNvGrpSpPr/>
          <p:nvPr/>
        </p:nvGrpSpPr>
        <p:grpSpPr>
          <a:xfrm rot="0">
            <a:off x="15479920" y="8387800"/>
            <a:ext cx="3086100" cy="3086100"/>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EAEBE9"/>
            </a:solidFill>
          </p:spPr>
        </p:sp>
        <p:sp>
          <p:nvSpPr>
            <p:cNvPr name="TextBox 7" id="7"/>
            <p:cNvSpPr txBox="true"/>
            <p:nvPr/>
          </p:nvSpPr>
          <p:spPr>
            <a:xfrm>
              <a:off x="0" y="-57150"/>
              <a:ext cx="812800" cy="869950"/>
            </a:xfrm>
            <a:prstGeom prst="rect">
              <a:avLst/>
            </a:prstGeom>
          </p:spPr>
          <p:txBody>
            <a:bodyPr anchor="ctr" rtlCol="false" tIns="50800" lIns="50800" bIns="50800" rIns="50800"/>
            <a:lstStyle/>
            <a:p>
              <a:pPr algn="ctr">
                <a:lnSpc>
                  <a:spcPts val="3012"/>
                </a:lnSpc>
              </a:pPr>
            </a:p>
          </p:txBody>
        </p:sp>
      </p:grpSp>
      <p:sp>
        <p:nvSpPr>
          <p:cNvPr name="TextBox 8" id="8"/>
          <p:cNvSpPr txBox="true"/>
          <p:nvPr/>
        </p:nvSpPr>
        <p:spPr>
          <a:xfrm rot="0">
            <a:off x="537845" y="285833"/>
            <a:ext cx="13514552" cy="1066800"/>
          </a:xfrm>
          <a:prstGeom prst="rect">
            <a:avLst/>
          </a:prstGeom>
        </p:spPr>
        <p:txBody>
          <a:bodyPr anchor="t" rtlCol="false" tIns="0" lIns="0" bIns="0" rIns="0">
            <a:spAutoFit/>
          </a:bodyPr>
          <a:lstStyle/>
          <a:p>
            <a:pPr algn="ctr"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MEDALLION ARCHITECTURE</a:t>
            </a:r>
          </a:p>
        </p:txBody>
      </p:sp>
      <p:sp>
        <p:nvSpPr>
          <p:cNvPr name="TextBox 9" id="9"/>
          <p:cNvSpPr txBox="true"/>
          <p:nvPr/>
        </p:nvSpPr>
        <p:spPr>
          <a:xfrm rot="0">
            <a:off x="778548" y="2273633"/>
            <a:ext cx="15653277" cy="4959350"/>
          </a:xfrm>
          <a:prstGeom prst="rect">
            <a:avLst/>
          </a:prstGeom>
        </p:spPr>
        <p:txBody>
          <a:bodyPr anchor="t" rtlCol="false" tIns="0" lIns="0" bIns="0" rIns="0">
            <a:spAutoFit/>
          </a:bodyPr>
          <a:lstStyle/>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Medallion Architecture is a data design pattern used in modern data engineering to organize data into multiple layers based on data quality and processing stage.</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Bronze Layer stores raw data ingested from source systems without modification</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Silver Layer contains cleaned, validated, and standardized data</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Gold Layer holds aggregated, business-ready datasets used for analytics and reporting</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This architecture improves data quality, scalability, maintainability, and enables clear separation between raw data processing and business analytics.</a:t>
            </a:r>
          </a:p>
        </p:txBody>
      </p:sp>
      <p:sp>
        <p:nvSpPr>
          <p:cNvPr name="Freeform 10" id="10"/>
          <p:cNvSpPr/>
          <p:nvPr/>
        </p:nvSpPr>
        <p:spPr>
          <a:xfrm flipH="false" flipV="false" rot="0">
            <a:off x="1644491" y="7792880"/>
            <a:ext cx="11301259" cy="1921214"/>
          </a:xfrm>
          <a:custGeom>
            <a:avLst/>
            <a:gdLst/>
            <a:ahLst/>
            <a:cxnLst/>
            <a:rect r="r" b="b" t="t" l="l"/>
            <a:pathLst>
              <a:path h="1921214" w="11301259">
                <a:moveTo>
                  <a:pt x="0" y="0"/>
                </a:moveTo>
                <a:lnTo>
                  <a:pt x="11301259" y="0"/>
                </a:lnTo>
                <a:lnTo>
                  <a:pt x="11301259" y="1921214"/>
                </a:lnTo>
                <a:lnTo>
                  <a:pt x="0" y="1921214"/>
                </a:lnTo>
                <a:lnTo>
                  <a:pt x="0" y="0"/>
                </a:lnTo>
                <a:close/>
              </a:path>
            </a:pathLst>
          </a:custGeom>
          <a:blipFill>
            <a:blip r:embed="rId2"/>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4534183" y="-514350"/>
            <a:ext cx="5385746" cy="2414210"/>
            <a:chOff x="0" y="0"/>
            <a:chExt cx="1418468" cy="635841"/>
          </a:xfrm>
        </p:grpSpPr>
        <p:sp>
          <p:nvSpPr>
            <p:cNvPr name="Freeform 3" id="3"/>
            <p:cNvSpPr/>
            <p:nvPr/>
          </p:nvSpPr>
          <p:spPr>
            <a:xfrm flipH="false" flipV="false" rot="0">
              <a:off x="0" y="0"/>
              <a:ext cx="1418468" cy="635841"/>
            </a:xfrm>
            <a:custGeom>
              <a:avLst/>
              <a:gdLst/>
              <a:ahLst/>
              <a:cxnLst/>
              <a:rect r="r" b="b" t="t" l="l"/>
              <a:pathLst>
                <a:path h="635841" w="1418468">
                  <a:moveTo>
                    <a:pt x="0" y="0"/>
                  </a:moveTo>
                  <a:lnTo>
                    <a:pt x="1418468" y="0"/>
                  </a:lnTo>
                  <a:lnTo>
                    <a:pt x="1418468" y="635841"/>
                  </a:lnTo>
                  <a:lnTo>
                    <a:pt x="0" y="635841"/>
                  </a:lnTo>
                  <a:close/>
                </a:path>
              </a:pathLst>
            </a:custGeom>
            <a:solidFill>
              <a:srgbClr val="EAEBE9"/>
            </a:solidFill>
          </p:spPr>
        </p:sp>
        <p:sp>
          <p:nvSpPr>
            <p:cNvPr name="TextBox 4" id="4"/>
            <p:cNvSpPr txBox="true"/>
            <p:nvPr/>
          </p:nvSpPr>
          <p:spPr>
            <a:xfrm>
              <a:off x="0" y="-57150"/>
              <a:ext cx="1418468" cy="692991"/>
            </a:xfrm>
            <a:prstGeom prst="rect">
              <a:avLst/>
            </a:prstGeom>
          </p:spPr>
          <p:txBody>
            <a:bodyPr anchor="ctr" rtlCol="false" tIns="50800" lIns="50800" bIns="50800" rIns="50800"/>
            <a:lstStyle/>
            <a:p>
              <a:pPr algn="ctr">
                <a:lnSpc>
                  <a:spcPts val="3012"/>
                </a:lnSpc>
              </a:pPr>
            </a:p>
          </p:txBody>
        </p:sp>
      </p:grpSp>
      <p:sp>
        <p:nvSpPr>
          <p:cNvPr name="TextBox 5" id="5"/>
          <p:cNvSpPr txBox="true"/>
          <p:nvPr/>
        </p:nvSpPr>
        <p:spPr>
          <a:xfrm rot="0">
            <a:off x="-283002" y="572452"/>
            <a:ext cx="8684183" cy="912495"/>
          </a:xfrm>
          <a:prstGeom prst="rect">
            <a:avLst/>
          </a:prstGeom>
        </p:spPr>
        <p:txBody>
          <a:bodyPr anchor="t" rtlCol="false" tIns="0" lIns="0" bIns="0" rIns="0">
            <a:spAutoFit/>
          </a:bodyPr>
          <a:lstStyle/>
          <a:p>
            <a:pPr algn="ctr" marL="0" indent="0" lvl="0">
              <a:lnSpc>
                <a:spcPts val="6839"/>
              </a:lnSpc>
            </a:pPr>
            <a:r>
              <a:rPr lang="en-US" b="true" sz="6000">
                <a:solidFill>
                  <a:srgbClr val="000000"/>
                </a:solidFill>
                <a:latin typeface="Times New Roman Bold"/>
                <a:ea typeface="Times New Roman Bold"/>
                <a:cs typeface="Times New Roman Bold"/>
                <a:sym typeface="Times New Roman Bold"/>
              </a:rPr>
              <a:t>DATABRICKS</a:t>
            </a:r>
          </a:p>
        </p:txBody>
      </p:sp>
      <p:sp>
        <p:nvSpPr>
          <p:cNvPr name="TextBox 6" id="6"/>
          <p:cNvSpPr txBox="true"/>
          <p:nvPr/>
        </p:nvSpPr>
        <p:spPr>
          <a:xfrm rot="0">
            <a:off x="1028700" y="1510000"/>
            <a:ext cx="14744962" cy="8674100"/>
          </a:xfrm>
          <a:prstGeom prst="rect">
            <a:avLst/>
          </a:prstGeom>
        </p:spPr>
        <p:txBody>
          <a:bodyPr anchor="t" rtlCol="false" tIns="0" lIns="0" bIns="0" rIns="0">
            <a:spAutoFit/>
          </a:bodyPr>
          <a:lstStyle/>
          <a:p>
            <a:pPr algn="l">
              <a:lnSpc>
                <a:spcPts val="4900"/>
              </a:lnSpc>
            </a:pPr>
            <a:r>
              <a:rPr lang="en-US" sz="3500" b="true">
                <a:solidFill>
                  <a:srgbClr val="000000"/>
                </a:solidFill>
                <a:latin typeface="Times New Roman Bold"/>
                <a:ea typeface="Times New Roman Bold"/>
                <a:cs typeface="Times New Roman Bold"/>
                <a:sym typeface="Times New Roman Bold"/>
              </a:rPr>
              <a:t>What is Databricks?</a:t>
            </a:r>
          </a:p>
          <a:p>
            <a:pPr algn="l">
              <a:lnSpc>
                <a:spcPts val="4900"/>
              </a:lnSpc>
            </a:pPr>
            <a:r>
              <a:rPr lang="en-US" sz="3500">
                <a:solidFill>
                  <a:srgbClr val="000000"/>
                </a:solidFill>
                <a:latin typeface="Times New Roman"/>
                <a:ea typeface="Times New Roman"/>
                <a:cs typeface="Times New Roman"/>
                <a:sym typeface="Times New Roman"/>
              </a:rPr>
              <a:t> Databricks is a cloud-based data analytics platform built on </a:t>
            </a:r>
            <a:r>
              <a:rPr lang="en-US" sz="3500">
                <a:solidFill>
                  <a:srgbClr val="000000"/>
                </a:solidFill>
                <a:latin typeface="Times New Roman"/>
                <a:ea typeface="Times New Roman"/>
                <a:cs typeface="Times New Roman"/>
                <a:sym typeface="Times New Roman"/>
              </a:rPr>
              <a:t>Apache Spark that enables large-scale data processing, transformation, and analytics using distributed computing.</a:t>
            </a:r>
          </a:p>
          <a:p>
            <a:pPr algn="l">
              <a:lnSpc>
                <a:spcPts val="4900"/>
              </a:lnSpc>
            </a:pPr>
          </a:p>
          <a:p>
            <a:pPr algn="l">
              <a:lnSpc>
                <a:spcPts val="4900"/>
              </a:lnSpc>
            </a:pPr>
            <a:r>
              <a:rPr lang="en-US" sz="3500" b="true">
                <a:solidFill>
                  <a:srgbClr val="000000"/>
                </a:solidFill>
                <a:latin typeface="Times New Roman Bold"/>
                <a:ea typeface="Times New Roman Bold"/>
                <a:cs typeface="Times New Roman Bold"/>
                <a:sym typeface="Times New Roman Bold"/>
              </a:rPr>
              <a:t>Why Databricks is Used </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Provides scalable processing for large retail datasets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Supports PySpark and Spark SQL for efficient data transformations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Enables implementation of the Medallion Architecture (Br</a:t>
            </a:r>
            <a:r>
              <a:rPr lang="en-US" sz="3500">
                <a:solidFill>
                  <a:srgbClr val="000000"/>
                </a:solidFill>
                <a:latin typeface="Times New Roman"/>
                <a:ea typeface="Times New Roman"/>
                <a:cs typeface="Times New Roman"/>
                <a:sym typeface="Times New Roman"/>
              </a:rPr>
              <a:t>onze, Silver, Gold)</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Integrates Delta Lake for reliable and consistent data storage</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Supports interactive notebooks for development and debugging</a:t>
            </a:r>
          </a:p>
          <a:p>
            <a:pPr algn="l">
              <a:lnSpc>
                <a:spcPts val="4900"/>
              </a:lnSpc>
            </a:pPr>
            <a:r>
              <a:rPr lang="en-US" sz="3500">
                <a:solidFill>
                  <a:srgbClr val="000000"/>
                </a:solidFill>
                <a:latin typeface="Times New Roman"/>
                <a:ea typeface="Times New Roman"/>
                <a:cs typeface="Times New Roman"/>
                <a:sym typeface="Times New Roman"/>
              </a:rPr>
              <a:t>Databricks helps efficiently transform raw retail data into analytics-ready datasets for reporting and decision-making.</a:t>
            </a:r>
          </a:p>
          <a:p>
            <a:pPr algn="l" marL="0" indent="0" lvl="0">
              <a:lnSpc>
                <a:spcPts val="4900"/>
              </a:lnSpc>
            </a:pP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215713"/>
            <a:ext cx="9868010" cy="5792149"/>
            <a:chOff x="0" y="0"/>
            <a:chExt cx="2598982" cy="1525504"/>
          </a:xfrm>
        </p:grpSpPr>
        <p:sp>
          <p:nvSpPr>
            <p:cNvPr name="Freeform 3" id="3"/>
            <p:cNvSpPr/>
            <p:nvPr/>
          </p:nvSpPr>
          <p:spPr>
            <a:xfrm flipH="false" flipV="false" rot="0">
              <a:off x="0" y="0"/>
              <a:ext cx="2598982" cy="1525504"/>
            </a:xfrm>
            <a:custGeom>
              <a:avLst/>
              <a:gdLst/>
              <a:ahLst/>
              <a:cxnLst/>
              <a:rect r="r" b="b" t="t" l="l"/>
              <a:pathLst>
                <a:path h="1525504" w="2598982">
                  <a:moveTo>
                    <a:pt x="0" y="0"/>
                  </a:moveTo>
                  <a:lnTo>
                    <a:pt x="2598982" y="0"/>
                  </a:lnTo>
                  <a:lnTo>
                    <a:pt x="2598982" y="1525504"/>
                  </a:lnTo>
                  <a:lnTo>
                    <a:pt x="0" y="1525504"/>
                  </a:lnTo>
                  <a:close/>
                </a:path>
              </a:pathLst>
            </a:custGeom>
            <a:solidFill>
              <a:srgbClr val="EAEBE9"/>
            </a:solidFill>
          </p:spPr>
        </p:sp>
        <p:sp>
          <p:nvSpPr>
            <p:cNvPr name="TextBox 4" id="4"/>
            <p:cNvSpPr txBox="true"/>
            <p:nvPr/>
          </p:nvSpPr>
          <p:spPr>
            <a:xfrm>
              <a:off x="0" y="-57150"/>
              <a:ext cx="2598982" cy="1582654"/>
            </a:xfrm>
            <a:prstGeom prst="rect">
              <a:avLst/>
            </a:prstGeom>
          </p:spPr>
          <p:txBody>
            <a:bodyPr anchor="ctr" rtlCol="false" tIns="50800" lIns="50800" bIns="50800" rIns="50800"/>
            <a:lstStyle/>
            <a:p>
              <a:pPr algn="ctr">
                <a:lnSpc>
                  <a:spcPts val="3012"/>
                </a:lnSpc>
              </a:pPr>
            </a:p>
          </p:txBody>
        </p:sp>
      </p:grpSp>
      <p:sp>
        <p:nvSpPr>
          <p:cNvPr name="Freeform 5" id="5"/>
          <p:cNvSpPr/>
          <p:nvPr/>
        </p:nvSpPr>
        <p:spPr>
          <a:xfrm flipH="false" flipV="false" rot="0">
            <a:off x="10225322" y="2215713"/>
            <a:ext cx="6566319" cy="5562214"/>
          </a:xfrm>
          <a:custGeom>
            <a:avLst/>
            <a:gdLst/>
            <a:ahLst/>
            <a:cxnLst/>
            <a:rect r="r" b="b" t="t" l="l"/>
            <a:pathLst>
              <a:path h="5562214" w="6566319">
                <a:moveTo>
                  <a:pt x="0" y="0"/>
                </a:moveTo>
                <a:lnTo>
                  <a:pt x="6566319" y="0"/>
                </a:lnTo>
                <a:lnTo>
                  <a:pt x="6566319" y="5562214"/>
                </a:lnTo>
                <a:lnTo>
                  <a:pt x="0" y="5562214"/>
                </a:lnTo>
                <a:lnTo>
                  <a:pt x="0" y="0"/>
                </a:lnTo>
                <a:close/>
              </a:path>
            </a:pathLst>
          </a:custGeom>
          <a:blipFill>
            <a:blip r:embed="rId2"/>
            <a:stretch>
              <a:fillRect l="0" t="0" r="0" b="0"/>
            </a:stretch>
          </a:blipFill>
        </p:spPr>
      </p:sp>
      <p:sp>
        <p:nvSpPr>
          <p:cNvPr name="Freeform 6" id="6"/>
          <p:cNvSpPr/>
          <p:nvPr/>
        </p:nvSpPr>
        <p:spPr>
          <a:xfrm flipH="false" flipV="false" rot="0">
            <a:off x="1760345" y="8219839"/>
            <a:ext cx="13401376" cy="1708675"/>
          </a:xfrm>
          <a:custGeom>
            <a:avLst/>
            <a:gdLst/>
            <a:ahLst/>
            <a:cxnLst/>
            <a:rect r="r" b="b" t="t" l="l"/>
            <a:pathLst>
              <a:path h="1708675" w="13401376">
                <a:moveTo>
                  <a:pt x="0" y="0"/>
                </a:moveTo>
                <a:lnTo>
                  <a:pt x="13401375" y="0"/>
                </a:lnTo>
                <a:lnTo>
                  <a:pt x="13401375" y="1708676"/>
                </a:lnTo>
                <a:lnTo>
                  <a:pt x="0" y="1708676"/>
                </a:lnTo>
                <a:lnTo>
                  <a:pt x="0" y="0"/>
                </a:lnTo>
                <a:close/>
              </a:path>
            </a:pathLst>
          </a:custGeom>
          <a:blipFill>
            <a:blip r:embed="rId3"/>
            <a:stretch>
              <a:fillRect l="0" t="0" r="0" b="0"/>
            </a:stretch>
          </a:blipFill>
        </p:spPr>
      </p:sp>
      <p:sp>
        <p:nvSpPr>
          <p:cNvPr name="TextBox 7" id="7"/>
          <p:cNvSpPr txBox="true"/>
          <p:nvPr/>
        </p:nvSpPr>
        <p:spPr>
          <a:xfrm rot="0">
            <a:off x="3126280" y="710763"/>
            <a:ext cx="12035441" cy="1066800"/>
          </a:xfrm>
          <a:prstGeom prst="rect">
            <a:avLst/>
          </a:prstGeom>
        </p:spPr>
        <p:txBody>
          <a:bodyPr anchor="t" rtlCol="false" tIns="0" lIns="0" bIns="0" rIns="0">
            <a:spAutoFit/>
          </a:bodyPr>
          <a:lstStyle/>
          <a:p>
            <a:pPr algn="ctr"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BRONZE LAYER</a:t>
            </a:r>
          </a:p>
        </p:txBody>
      </p:sp>
      <p:sp>
        <p:nvSpPr>
          <p:cNvPr name="TextBox 8" id="8"/>
          <p:cNvSpPr txBox="true"/>
          <p:nvPr/>
        </p:nvSpPr>
        <p:spPr>
          <a:xfrm rot="0">
            <a:off x="486741" y="2519777"/>
            <a:ext cx="9381269" cy="4959350"/>
          </a:xfrm>
          <a:prstGeom prst="rect">
            <a:avLst/>
          </a:prstGeom>
        </p:spPr>
        <p:txBody>
          <a:bodyPr anchor="t" rtlCol="false" tIns="0" lIns="0" bIns="0" rIns="0">
            <a:spAutoFit/>
          </a:bodyPr>
          <a:lstStyle/>
          <a:p>
            <a:pPr algn="l">
              <a:lnSpc>
                <a:spcPts val="4900"/>
              </a:lnSpc>
            </a:pPr>
            <a:r>
              <a:rPr lang="en-US" sz="3500" b="true">
                <a:solidFill>
                  <a:srgbClr val="000000"/>
                </a:solidFill>
                <a:latin typeface="Times New Roman Bold"/>
                <a:ea typeface="Times New Roman Bold"/>
                <a:cs typeface="Times New Roman Bold"/>
                <a:sym typeface="Times New Roman Bold"/>
              </a:rPr>
              <a:t>Bronze Layer</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Reads raw CSV files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Stores data as Delta tables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No transformations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Adds ingestion metadata</a:t>
            </a:r>
          </a:p>
          <a:p>
            <a:pPr algn="l">
              <a:lnSpc>
                <a:spcPts val="4900"/>
              </a:lnSpc>
            </a:pPr>
            <a:r>
              <a:rPr lang="en-US" sz="3500" b="true">
                <a:solidFill>
                  <a:srgbClr val="000000"/>
                </a:solidFill>
                <a:latin typeface="Times New Roman Bold"/>
                <a:ea typeface="Times New Roman Bold"/>
                <a:cs typeface="Times New Roman Bold"/>
                <a:sym typeface="Times New Roman Bold"/>
              </a:rPr>
              <a:t>Goal:</a:t>
            </a:r>
          </a:p>
          <a:p>
            <a:pPr algn="l">
              <a:lnSpc>
                <a:spcPts val="4900"/>
              </a:lnSpc>
            </a:pPr>
            <a:r>
              <a:rPr lang="en-US" sz="3500">
                <a:solidFill>
                  <a:srgbClr val="000000"/>
                </a:solidFill>
                <a:latin typeface="Times New Roman"/>
                <a:ea typeface="Times New Roman"/>
                <a:cs typeface="Times New Roman"/>
                <a:sym typeface="Times New Roman"/>
              </a:rPr>
              <a:t> Pres</a:t>
            </a:r>
            <a:r>
              <a:rPr lang="en-US" sz="3500">
                <a:solidFill>
                  <a:srgbClr val="000000"/>
                </a:solidFill>
                <a:latin typeface="Times New Roman"/>
                <a:ea typeface="Times New Roman"/>
                <a:cs typeface="Times New Roman"/>
                <a:sym typeface="Times New Roman"/>
              </a:rPr>
              <a:t>erve original data for traceability.</a:t>
            </a:r>
          </a:p>
          <a:p>
            <a:pPr algn="l" marL="0" indent="0" lvl="0">
              <a:lnSpc>
                <a:spcPts val="4900"/>
              </a:lnSpc>
              <a:spcBef>
                <a:spcPct val="0"/>
              </a:spcBef>
            </a:pP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215713"/>
            <a:ext cx="9868010" cy="5792149"/>
            <a:chOff x="0" y="0"/>
            <a:chExt cx="2598982" cy="1525504"/>
          </a:xfrm>
        </p:grpSpPr>
        <p:sp>
          <p:nvSpPr>
            <p:cNvPr name="Freeform 3" id="3"/>
            <p:cNvSpPr/>
            <p:nvPr/>
          </p:nvSpPr>
          <p:spPr>
            <a:xfrm flipH="false" flipV="false" rot="0">
              <a:off x="0" y="0"/>
              <a:ext cx="2598982" cy="1525504"/>
            </a:xfrm>
            <a:custGeom>
              <a:avLst/>
              <a:gdLst/>
              <a:ahLst/>
              <a:cxnLst/>
              <a:rect r="r" b="b" t="t" l="l"/>
              <a:pathLst>
                <a:path h="1525504" w="2598982">
                  <a:moveTo>
                    <a:pt x="0" y="0"/>
                  </a:moveTo>
                  <a:lnTo>
                    <a:pt x="2598982" y="0"/>
                  </a:lnTo>
                  <a:lnTo>
                    <a:pt x="2598982" y="1525504"/>
                  </a:lnTo>
                  <a:lnTo>
                    <a:pt x="0" y="1525504"/>
                  </a:lnTo>
                  <a:close/>
                </a:path>
              </a:pathLst>
            </a:custGeom>
            <a:solidFill>
              <a:srgbClr val="EAEBE9"/>
            </a:solidFill>
          </p:spPr>
        </p:sp>
        <p:sp>
          <p:nvSpPr>
            <p:cNvPr name="TextBox 4" id="4"/>
            <p:cNvSpPr txBox="true"/>
            <p:nvPr/>
          </p:nvSpPr>
          <p:spPr>
            <a:xfrm>
              <a:off x="0" y="-57150"/>
              <a:ext cx="2598982" cy="1582654"/>
            </a:xfrm>
            <a:prstGeom prst="rect">
              <a:avLst/>
            </a:prstGeom>
          </p:spPr>
          <p:txBody>
            <a:bodyPr anchor="ctr" rtlCol="false" tIns="50800" lIns="50800" bIns="50800" rIns="50800"/>
            <a:lstStyle/>
            <a:p>
              <a:pPr algn="ctr">
                <a:lnSpc>
                  <a:spcPts val="3012"/>
                </a:lnSpc>
              </a:pPr>
            </a:p>
          </p:txBody>
        </p:sp>
      </p:grpSp>
      <p:sp>
        <p:nvSpPr>
          <p:cNvPr name="Freeform 5" id="5"/>
          <p:cNvSpPr/>
          <p:nvPr/>
        </p:nvSpPr>
        <p:spPr>
          <a:xfrm flipH="false" flipV="false" rot="0">
            <a:off x="10715164" y="1924509"/>
            <a:ext cx="6257388" cy="7771488"/>
          </a:xfrm>
          <a:custGeom>
            <a:avLst/>
            <a:gdLst/>
            <a:ahLst/>
            <a:cxnLst/>
            <a:rect r="r" b="b" t="t" l="l"/>
            <a:pathLst>
              <a:path h="7771488" w="6257388">
                <a:moveTo>
                  <a:pt x="0" y="0"/>
                </a:moveTo>
                <a:lnTo>
                  <a:pt x="6257388" y="0"/>
                </a:lnTo>
                <a:lnTo>
                  <a:pt x="6257388" y="7771488"/>
                </a:lnTo>
                <a:lnTo>
                  <a:pt x="0" y="7771488"/>
                </a:lnTo>
                <a:lnTo>
                  <a:pt x="0" y="0"/>
                </a:lnTo>
                <a:close/>
              </a:path>
            </a:pathLst>
          </a:custGeom>
          <a:blipFill>
            <a:blip r:embed="rId2"/>
            <a:stretch>
              <a:fillRect l="0" t="0" r="0" b="0"/>
            </a:stretch>
          </a:blipFill>
        </p:spPr>
      </p:sp>
      <p:sp>
        <p:nvSpPr>
          <p:cNvPr name="TextBox 6" id="6"/>
          <p:cNvSpPr txBox="true"/>
          <p:nvPr/>
        </p:nvSpPr>
        <p:spPr>
          <a:xfrm rot="0">
            <a:off x="3126280" y="419100"/>
            <a:ext cx="12035441" cy="1066800"/>
          </a:xfrm>
          <a:prstGeom prst="rect">
            <a:avLst/>
          </a:prstGeom>
        </p:spPr>
        <p:txBody>
          <a:bodyPr anchor="t" rtlCol="false" tIns="0" lIns="0" bIns="0" rIns="0">
            <a:spAutoFit/>
          </a:bodyPr>
          <a:lstStyle/>
          <a:p>
            <a:pPr algn="ctr"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SILVER LAYER</a:t>
            </a:r>
          </a:p>
        </p:txBody>
      </p:sp>
      <p:sp>
        <p:nvSpPr>
          <p:cNvPr name="TextBox 7" id="7"/>
          <p:cNvSpPr txBox="true"/>
          <p:nvPr/>
        </p:nvSpPr>
        <p:spPr>
          <a:xfrm rot="0">
            <a:off x="486741" y="2429388"/>
            <a:ext cx="9381269" cy="5578475"/>
          </a:xfrm>
          <a:prstGeom prst="rect">
            <a:avLst/>
          </a:prstGeom>
        </p:spPr>
        <p:txBody>
          <a:bodyPr anchor="t" rtlCol="false" tIns="0" lIns="0" bIns="0" rIns="0">
            <a:spAutoFit/>
          </a:bodyPr>
          <a:lstStyle/>
          <a:p>
            <a:pPr algn="l">
              <a:lnSpc>
                <a:spcPts val="4900"/>
              </a:lnSpc>
            </a:pPr>
            <a:r>
              <a:rPr lang="en-US" sz="3500" b="true">
                <a:solidFill>
                  <a:srgbClr val="000000"/>
                </a:solidFill>
                <a:latin typeface="Times New Roman Bold"/>
                <a:ea typeface="Times New Roman Bold"/>
                <a:cs typeface="Times New Roman Bold"/>
                <a:sym typeface="Times New Roman Bold"/>
              </a:rPr>
              <a:t>D</a:t>
            </a:r>
            <a:r>
              <a:rPr lang="en-US" sz="3500" b="true">
                <a:solidFill>
                  <a:srgbClr val="000000"/>
                </a:solidFill>
                <a:latin typeface="Times New Roman Bold"/>
                <a:ea typeface="Times New Roman Bold"/>
                <a:cs typeface="Times New Roman Bold"/>
                <a:sym typeface="Times New Roman Bold"/>
              </a:rPr>
              <a:t>ata Cleaning &amp; Preprocessing</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Remove duplicate records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Handle missing values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Validate</a:t>
            </a:r>
            <a:r>
              <a:rPr lang="en-US" sz="3500">
                <a:solidFill>
                  <a:srgbClr val="000000"/>
                </a:solidFill>
                <a:latin typeface="Times New Roman"/>
                <a:ea typeface="Times New Roman"/>
                <a:cs typeface="Times New Roman"/>
                <a:sym typeface="Times New Roman"/>
              </a:rPr>
              <a:t> foreign keys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Filter invalid records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Standardize formats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C</a:t>
            </a:r>
            <a:r>
              <a:rPr lang="en-US" sz="3500">
                <a:solidFill>
                  <a:srgbClr val="000000"/>
                </a:solidFill>
                <a:latin typeface="Times New Roman"/>
                <a:ea typeface="Times New Roman"/>
                <a:cs typeface="Times New Roman"/>
                <a:sym typeface="Times New Roman"/>
              </a:rPr>
              <a:t>reate d</a:t>
            </a:r>
            <a:r>
              <a:rPr lang="en-US" sz="3500">
                <a:solidFill>
                  <a:srgbClr val="000000"/>
                </a:solidFill>
                <a:latin typeface="Times New Roman"/>
                <a:ea typeface="Times New Roman"/>
                <a:cs typeface="Times New Roman"/>
                <a:sym typeface="Times New Roman"/>
              </a:rPr>
              <a:t>erived metrics like Profit, Revenue</a:t>
            </a:r>
          </a:p>
          <a:p>
            <a:pPr algn="l">
              <a:lnSpc>
                <a:spcPts val="4900"/>
              </a:lnSpc>
            </a:pPr>
            <a:r>
              <a:rPr lang="en-US" sz="3500" b="true">
                <a:solidFill>
                  <a:srgbClr val="000000"/>
                </a:solidFill>
                <a:latin typeface="Times New Roman Bold"/>
                <a:ea typeface="Times New Roman Bold"/>
                <a:cs typeface="Times New Roman Bold"/>
                <a:sym typeface="Times New Roman Bold"/>
              </a:rPr>
              <a:t>Invalid data is stored separately, not deleted.</a:t>
            </a:r>
          </a:p>
          <a:p>
            <a:pPr algn="l" marL="0" indent="0" lvl="0">
              <a:lnSpc>
                <a:spcPts val="4900"/>
              </a:lnSpc>
              <a:spcBef>
                <a:spcPct val="0"/>
              </a:spcBef>
            </a:pP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394640"/>
            <a:ext cx="18675157" cy="3090692"/>
            <a:chOff x="0" y="0"/>
            <a:chExt cx="24900209" cy="4120923"/>
          </a:xfrm>
        </p:grpSpPr>
        <p:sp>
          <p:nvSpPr>
            <p:cNvPr name="Freeform 3" id="3"/>
            <p:cNvSpPr/>
            <p:nvPr/>
          </p:nvSpPr>
          <p:spPr>
            <a:xfrm flipH="false" flipV="false" rot="0">
              <a:off x="0" y="0"/>
              <a:ext cx="12586401" cy="4120923"/>
            </a:xfrm>
            <a:custGeom>
              <a:avLst/>
              <a:gdLst/>
              <a:ahLst/>
              <a:cxnLst/>
              <a:rect r="r" b="b" t="t" l="l"/>
              <a:pathLst>
                <a:path h="4120923" w="12586401">
                  <a:moveTo>
                    <a:pt x="0" y="0"/>
                  </a:moveTo>
                  <a:lnTo>
                    <a:pt x="12586401" y="0"/>
                  </a:lnTo>
                  <a:lnTo>
                    <a:pt x="12586401" y="4120923"/>
                  </a:lnTo>
                  <a:lnTo>
                    <a:pt x="0" y="4120923"/>
                  </a:lnTo>
                  <a:lnTo>
                    <a:pt x="0" y="0"/>
                  </a:lnTo>
                  <a:close/>
                </a:path>
              </a:pathLst>
            </a:custGeom>
            <a:blipFill>
              <a:blip r:embed="rId2"/>
              <a:stretch>
                <a:fillRect l="0" t="0" r="0" b="-1423"/>
              </a:stretch>
            </a:blipFill>
          </p:spPr>
        </p:sp>
        <p:sp>
          <p:nvSpPr>
            <p:cNvPr name="Freeform 4" id="4"/>
            <p:cNvSpPr/>
            <p:nvPr/>
          </p:nvSpPr>
          <p:spPr>
            <a:xfrm flipH="false" flipV="false" rot="0">
              <a:off x="12476740" y="0"/>
              <a:ext cx="12423469" cy="4120923"/>
            </a:xfrm>
            <a:custGeom>
              <a:avLst/>
              <a:gdLst/>
              <a:ahLst/>
              <a:cxnLst/>
              <a:rect r="r" b="b" t="t" l="l"/>
              <a:pathLst>
                <a:path h="4120923" w="12423469">
                  <a:moveTo>
                    <a:pt x="0" y="0"/>
                  </a:moveTo>
                  <a:lnTo>
                    <a:pt x="12423469" y="0"/>
                  </a:lnTo>
                  <a:lnTo>
                    <a:pt x="12423469" y="4120923"/>
                  </a:lnTo>
                  <a:lnTo>
                    <a:pt x="0" y="4120923"/>
                  </a:lnTo>
                  <a:lnTo>
                    <a:pt x="0" y="0"/>
                  </a:lnTo>
                  <a:close/>
                </a:path>
              </a:pathLst>
            </a:custGeom>
            <a:blipFill>
              <a:blip r:embed="rId3"/>
              <a:stretch>
                <a:fillRect l="-447" t="0" r="0" b="-1455"/>
              </a:stretch>
            </a:blipFill>
          </p:spPr>
        </p:sp>
      </p:grpSp>
      <p:grpSp>
        <p:nvGrpSpPr>
          <p:cNvPr name="Group 5" id="5"/>
          <p:cNvGrpSpPr/>
          <p:nvPr/>
        </p:nvGrpSpPr>
        <p:grpSpPr>
          <a:xfrm rot="0">
            <a:off x="0" y="6471859"/>
            <a:ext cx="20570467" cy="3181621"/>
            <a:chOff x="0" y="0"/>
            <a:chExt cx="27427289" cy="4242162"/>
          </a:xfrm>
        </p:grpSpPr>
        <p:sp>
          <p:nvSpPr>
            <p:cNvPr name="Freeform 6" id="6"/>
            <p:cNvSpPr/>
            <p:nvPr/>
          </p:nvSpPr>
          <p:spPr>
            <a:xfrm flipH="false" flipV="false" rot="0">
              <a:off x="0" y="0"/>
              <a:ext cx="14727095" cy="4233379"/>
            </a:xfrm>
            <a:custGeom>
              <a:avLst/>
              <a:gdLst/>
              <a:ahLst/>
              <a:cxnLst/>
              <a:rect r="r" b="b" t="t" l="l"/>
              <a:pathLst>
                <a:path h="4233379" w="14727095">
                  <a:moveTo>
                    <a:pt x="0" y="0"/>
                  </a:moveTo>
                  <a:lnTo>
                    <a:pt x="14727095" y="0"/>
                  </a:lnTo>
                  <a:lnTo>
                    <a:pt x="14727095" y="4233379"/>
                  </a:lnTo>
                  <a:lnTo>
                    <a:pt x="0" y="4233379"/>
                  </a:lnTo>
                  <a:lnTo>
                    <a:pt x="0" y="0"/>
                  </a:lnTo>
                  <a:close/>
                </a:path>
              </a:pathLst>
            </a:custGeom>
            <a:blipFill>
              <a:blip r:embed="rId4"/>
              <a:stretch>
                <a:fillRect l="-813" t="-3334" r="0" b="0"/>
              </a:stretch>
            </a:blipFill>
          </p:spPr>
        </p:sp>
        <p:sp>
          <p:nvSpPr>
            <p:cNvPr name="Freeform 7" id="7"/>
            <p:cNvSpPr/>
            <p:nvPr/>
          </p:nvSpPr>
          <p:spPr>
            <a:xfrm flipH="false" flipV="false" rot="0">
              <a:off x="14667798" y="0"/>
              <a:ext cx="12759491" cy="4242162"/>
            </a:xfrm>
            <a:custGeom>
              <a:avLst/>
              <a:gdLst/>
              <a:ahLst/>
              <a:cxnLst/>
              <a:rect r="r" b="b" t="t" l="l"/>
              <a:pathLst>
                <a:path h="4242162" w="12759491">
                  <a:moveTo>
                    <a:pt x="0" y="0"/>
                  </a:moveTo>
                  <a:lnTo>
                    <a:pt x="12759491" y="0"/>
                  </a:lnTo>
                  <a:lnTo>
                    <a:pt x="12759491" y="4242162"/>
                  </a:lnTo>
                  <a:lnTo>
                    <a:pt x="0" y="4242162"/>
                  </a:lnTo>
                  <a:lnTo>
                    <a:pt x="0" y="0"/>
                  </a:lnTo>
                  <a:close/>
                </a:path>
              </a:pathLst>
            </a:custGeom>
            <a:blipFill>
              <a:blip r:embed="rId5"/>
              <a:stretch>
                <a:fillRect l="0" t="0" r="0" b="-706"/>
              </a:stretch>
            </a:blipFill>
          </p:spPr>
        </p:sp>
      </p:grpSp>
      <p:sp>
        <p:nvSpPr>
          <p:cNvPr name="TextBox 8" id="8"/>
          <p:cNvSpPr txBox="true"/>
          <p:nvPr/>
        </p:nvSpPr>
        <p:spPr>
          <a:xfrm rot="0">
            <a:off x="803470" y="338161"/>
            <a:ext cx="7886322" cy="1066800"/>
          </a:xfrm>
          <a:prstGeom prst="rect">
            <a:avLst/>
          </a:prstGeom>
        </p:spPr>
        <p:txBody>
          <a:bodyPr anchor="t" rtlCol="false" tIns="0" lIns="0" bIns="0" rIns="0">
            <a:spAutoFit/>
          </a:bodyPr>
          <a:lstStyle/>
          <a:p>
            <a:pPr algn="ctr">
              <a:lnSpc>
                <a:spcPts val="8400"/>
              </a:lnSpc>
              <a:spcBef>
                <a:spcPct val="0"/>
              </a:spcBef>
            </a:pPr>
            <a:r>
              <a:rPr lang="en-US" b="true" sz="6000">
                <a:solidFill>
                  <a:srgbClr val="000000"/>
                </a:solidFill>
                <a:latin typeface="Times New Roman Bold"/>
                <a:ea typeface="Times New Roman Bold"/>
                <a:cs typeface="Times New Roman Bold"/>
                <a:sym typeface="Times New Roman Bold"/>
              </a:rPr>
              <a:t>INVALID RECORDS</a:t>
            </a:r>
          </a:p>
        </p:txBody>
      </p:sp>
      <p:sp>
        <p:nvSpPr>
          <p:cNvPr name="TextBox 9" id="9"/>
          <p:cNvSpPr txBox="true"/>
          <p:nvPr/>
        </p:nvSpPr>
        <p:spPr>
          <a:xfrm rot="0">
            <a:off x="211395" y="1624036"/>
            <a:ext cx="3432572" cy="625475"/>
          </a:xfrm>
          <a:prstGeom prst="rect">
            <a:avLst/>
          </a:prstGeom>
        </p:spPr>
        <p:txBody>
          <a:bodyPr anchor="t" rtlCol="false" tIns="0" lIns="0" bIns="0" rIns="0">
            <a:spAutoFit/>
          </a:bodyPr>
          <a:lstStyle/>
          <a:p>
            <a:pPr algn="ctr">
              <a:lnSpc>
                <a:spcPts val="4900"/>
              </a:lnSpc>
              <a:spcBef>
                <a:spcPct val="0"/>
              </a:spcBef>
            </a:pPr>
            <a:r>
              <a:rPr lang="en-US" b="true" sz="3500">
                <a:solidFill>
                  <a:srgbClr val="000000"/>
                </a:solidFill>
                <a:latin typeface="Times New Roman Bold"/>
                <a:ea typeface="Times New Roman Bold"/>
                <a:cs typeface="Times New Roman Bold"/>
                <a:sym typeface="Times New Roman Bold"/>
              </a:rPr>
              <a:t>sales_transactions</a:t>
            </a:r>
          </a:p>
        </p:txBody>
      </p:sp>
      <p:sp>
        <p:nvSpPr>
          <p:cNvPr name="TextBox 10" id="10"/>
          <p:cNvSpPr txBox="true"/>
          <p:nvPr/>
        </p:nvSpPr>
        <p:spPr>
          <a:xfrm rot="0">
            <a:off x="311309" y="5704407"/>
            <a:ext cx="1925638" cy="625475"/>
          </a:xfrm>
          <a:prstGeom prst="rect">
            <a:avLst/>
          </a:prstGeom>
        </p:spPr>
        <p:txBody>
          <a:bodyPr anchor="t" rtlCol="false" tIns="0" lIns="0" bIns="0" rIns="0">
            <a:spAutoFit/>
          </a:bodyPr>
          <a:lstStyle/>
          <a:p>
            <a:pPr algn="ctr">
              <a:lnSpc>
                <a:spcPts val="4900"/>
              </a:lnSpc>
              <a:spcBef>
                <a:spcPct val="0"/>
              </a:spcBef>
            </a:pPr>
            <a:r>
              <a:rPr lang="en-US" b="true" sz="3500">
                <a:solidFill>
                  <a:srgbClr val="000000"/>
                </a:solidFill>
                <a:latin typeface="Times New Roman Bold"/>
                <a:ea typeface="Times New Roman Bold"/>
                <a:cs typeface="Times New Roman Bold"/>
                <a:sym typeface="Times New Roman Bold"/>
              </a:rPr>
              <a:t>customers</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215713"/>
            <a:ext cx="9868010" cy="7318576"/>
            <a:chOff x="0" y="0"/>
            <a:chExt cx="2598982" cy="1927526"/>
          </a:xfrm>
        </p:grpSpPr>
        <p:sp>
          <p:nvSpPr>
            <p:cNvPr name="Freeform 3" id="3"/>
            <p:cNvSpPr/>
            <p:nvPr/>
          </p:nvSpPr>
          <p:spPr>
            <a:xfrm flipH="false" flipV="false" rot="0">
              <a:off x="0" y="0"/>
              <a:ext cx="2598982" cy="1927526"/>
            </a:xfrm>
            <a:custGeom>
              <a:avLst/>
              <a:gdLst/>
              <a:ahLst/>
              <a:cxnLst/>
              <a:rect r="r" b="b" t="t" l="l"/>
              <a:pathLst>
                <a:path h="1927526" w="2598982">
                  <a:moveTo>
                    <a:pt x="0" y="0"/>
                  </a:moveTo>
                  <a:lnTo>
                    <a:pt x="2598982" y="0"/>
                  </a:lnTo>
                  <a:lnTo>
                    <a:pt x="2598982" y="1927526"/>
                  </a:lnTo>
                  <a:lnTo>
                    <a:pt x="0" y="1927526"/>
                  </a:lnTo>
                  <a:close/>
                </a:path>
              </a:pathLst>
            </a:custGeom>
            <a:solidFill>
              <a:srgbClr val="EAEBE9"/>
            </a:solidFill>
          </p:spPr>
        </p:sp>
        <p:sp>
          <p:nvSpPr>
            <p:cNvPr name="TextBox 4" id="4"/>
            <p:cNvSpPr txBox="true"/>
            <p:nvPr/>
          </p:nvSpPr>
          <p:spPr>
            <a:xfrm>
              <a:off x="0" y="-57150"/>
              <a:ext cx="2598982" cy="1984676"/>
            </a:xfrm>
            <a:prstGeom prst="rect">
              <a:avLst/>
            </a:prstGeom>
          </p:spPr>
          <p:txBody>
            <a:bodyPr anchor="ctr" rtlCol="false" tIns="50800" lIns="50800" bIns="50800" rIns="50800"/>
            <a:lstStyle/>
            <a:p>
              <a:pPr algn="ctr">
                <a:lnSpc>
                  <a:spcPts val="3012"/>
                </a:lnSpc>
              </a:pPr>
            </a:p>
          </p:txBody>
        </p:sp>
      </p:grpSp>
      <p:sp>
        <p:nvSpPr>
          <p:cNvPr name="Freeform 5" id="5"/>
          <p:cNvSpPr/>
          <p:nvPr/>
        </p:nvSpPr>
        <p:spPr>
          <a:xfrm flipH="false" flipV="false" rot="0">
            <a:off x="6468377" y="6334934"/>
            <a:ext cx="11301259" cy="3701162"/>
          </a:xfrm>
          <a:custGeom>
            <a:avLst/>
            <a:gdLst/>
            <a:ahLst/>
            <a:cxnLst/>
            <a:rect r="r" b="b" t="t" l="l"/>
            <a:pathLst>
              <a:path h="3701162" w="11301259">
                <a:moveTo>
                  <a:pt x="0" y="0"/>
                </a:moveTo>
                <a:lnTo>
                  <a:pt x="11301259" y="0"/>
                </a:lnTo>
                <a:lnTo>
                  <a:pt x="11301259" y="3701162"/>
                </a:lnTo>
                <a:lnTo>
                  <a:pt x="0" y="3701162"/>
                </a:lnTo>
                <a:lnTo>
                  <a:pt x="0" y="0"/>
                </a:lnTo>
                <a:close/>
              </a:path>
            </a:pathLst>
          </a:custGeom>
          <a:blipFill>
            <a:blip r:embed="rId2"/>
            <a:stretch>
              <a:fillRect l="0" t="0" r="0" b="0"/>
            </a:stretch>
          </a:blipFill>
        </p:spPr>
      </p:sp>
      <p:sp>
        <p:nvSpPr>
          <p:cNvPr name="Freeform 6" id="6"/>
          <p:cNvSpPr/>
          <p:nvPr/>
        </p:nvSpPr>
        <p:spPr>
          <a:xfrm flipH="false" flipV="false" rot="0">
            <a:off x="10575531" y="1511526"/>
            <a:ext cx="6188776" cy="4732018"/>
          </a:xfrm>
          <a:custGeom>
            <a:avLst/>
            <a:gdLst/>
            <a:ahLst/>
            <a:cxnLst/>
            <a:rect r="r" b="b" t="t" l="l"/>
            <a:pathLst>
              <a:path h="4732018" w="6188776">
                <a:moveTo>
                  <a:pt x="0" y="0"/>
                </a:moveTo>
                <a:lnTo>
                  <a:pt x="6188776" y="0"/>
                </a:lnTo>
                <a:lnTo>
                  <a:pt x="6188776" y="4732018"/>
                </a:lnTo>
                <a:lnTo>
                  <a:pt x="0" y="4732018"/>
                </a:lnTo>
                <a:lnTo>
                  <a:pt x="0" y="0"/>
                </a:lnTo>
                <a:close/>
              </a:path>
            </a:pathLst>
          </a:custGeom>
          <a:blipFill>
            <a:blip r:embed="rId3"/>
            <a:stretch>
              <a:fillRect l="0" t="0" r="0" b="0"/>
            </a:stretch>
          </a:blipFill>
        </p:spPr>
      </p:sp>
      <p:sp>
        <p:nvSpPr>
          <p:cNvPr name="TextBox 7" id="7"/>
          <p:cNvSpPr txBox="true"/>
          <p:nvPr/>
        </p:nvSpPr>
        <p:spPr>
          <a:xfrm rot="0">
            <a:off x="3126280" y="190777"/>
            <a:ext cx="12035441" cy="1066800"/>
          </a:xfrm>
          <a:prstGeom prst="rect">
            <a:avLst/>
          </a:prstGeom>
        </p:spPr>
        <p:txBody>
          <a:bodyPr anchor="t" rtlCol="false" tIns="0" lIns="0" bIns="0" rIns="0">
            <a:spAutoFit/>
          </a:bodyPr>
          <a:lstStyle/>
          <a:p>
            <a:pPr algn="ctr"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GOLD LAYER</a:t>
            </a:r>
          </a:p>
        </p:txBody>
      </p:sp>
      <p:sp>
        <p:nvSpPr>
          <p:cNvPr name="TextBox 8" id="8"/>
          <p:cNvSpPr txBox="true"/>
          <p:nvPr/>
        </p:nvSpPr>
        <p:spPr>
          <a:xfrm rot="0">
            <a:off x="486741" y="2304465"/>
            <a:ext cx="9381269" cy="6816725"/>
          </a:xfrm>
          <a:prstGeom prst="rect">
            <a:avLst/>
          </a:prstGeom>
        </p:spPr>
        <p:txBody>
          <a:bodyPr anchor="t" rtlCol="false" tIns="0" lIns="0" bIns="0" rIns="0">
            <a:spAutoFit/>
          </a:bodyPr>
          <a:lstStyle/>
          <a:p>
            <a:pPr algn="l">
              <a:lnSpc>
                <a:spcPts val="4900"/>
              </a:lnSpc>
            </a:pPr>
            <a:r>
              <a:rPr lang="en-US" sz="3500" b="true">
                <a:solidFill>
                  <a:srgbClr val="000000"/>
                </a:solidFill>
                <a:latin typeface="Times New Roman Bold"/>
                <a:ea typeface="Times New Roman Bold"/>
                <a:cs typeface="Times New Roman Bold"/>
                <a:sym typeface="Times New Roman Bold"/>
              </a:rPr>
              <a:t>Gold Layer</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Business-ready datasets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Aggregations and KPIs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Joins across </a:t>
            </a:r>
            <a:r>
              <a:rPr lang="en-US" sz="3500">
                <a:solidFill>
                  <a:srgbClr val="000000"/>
                </a:solidFill>
                <a:latin typeface="Times New Roman"/>
                <a:ea typeface="Times New Roman"/>
                <a:cs typeface="Times New Roman"/>
                <a:sym typeface="Times New Roman"/>
              </a:rPr>
              <a:t>d</a:t>
            </a:r>
            <a:r>
              <a:rPr lang="en-US" sz="3500">
                <a:solidFill>
                  <a:srgbClr val="000000"/>
                </a:solidFill>
                <a:latin typeface="Times New Roman"/>
                <a:ea typeface="Times New Roman"/>
                <a:cs typeface="Times New Roman"/>
                <a:sym typeface="Times New Roman"/>
              </a:rPr>
              <a:t>omains</a:t>
            </a:r>
          </a:p>
          <a:p>
            <a:pPr algn="l">
              <a:lnSpc>
                <a:spcPts val="4900"/>
              </a:lnSpc>
            </a:pPr>
            <a:r>
              <a:rPr lang="en-US" sz="3500" b="true">
                <a:solidFill>
                  <a:srgbClr val="000000"/>
                </a:solidFill>
                <a:latin typeface="Times New Roman Bold"/>
                <a:ea typeface="Times New Roman Bold"/>
                <a:cs typeface="Times New Roman Bold"/>
                <a:sym typeface="Times New Roman Bold"/>
              </a:rPr>
              <a:t>Go</a:t>
            </a:r>
            <a:r>
              <a:rPr lang="en-US" sz="3500" b="true">
                <a:solidFill>
                  <a:srgbClr val="000000"/>
                </a:solidFill>
                <a:latin typeface="Times New Roman Bold"/>
                <a:ea typeface="Times New Roman Bold"/>
                <a:cs typeface="Times New Roman Bold"/>
                <a:sym typeface="Times New Roman Bold"/>
              </a:rPr>
              <a:t>ld Tables Created</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Sales Performance</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P</a:t>
            </a:r>
            <a:r>
              <a:rPr lang="en-US" sz="3500">
                <a:solidFill>
                  <a:srgbClr val="000000"/>
                </a:solidFill>
                <a:latin typeface="Times New Roman"/>
                <a:ea typeface="Times New Roman"/>
                <a:cs typeface="Times New Roman"/>
                <a:sym typeface="Times New Roman"/>
              </a:rPr>
              <a:t>roduct P</a:t>
            </a:r>
            <a:r>
              <a:rPr lang="en-US" sz="3500">
                <a:solidFill>
                  <a:srgbClr val="000000"/>
                </a:solidFill>
                <a:latin typeface="Times New Roman"/>
                <a:ea typeface="Times New Roman"/>
                <a:cs typeface="Times New Roman"/>
                <a:sym typeface="Times New Roman"/>
              </a:rPr>
              <a:t>erformance</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Regional Performance</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Customer Analytics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Target vs Actual Analysis</a:t>
            </a:r>
          </a:p>
          <a:p>
            <a:pPr algn="l" marL="0" indent="0" lvl="0">
              <a:lnSpc>
                <a:spcPts val="4900"/>
              </a:lnSpc>
              <a:spcBef>
                <a:spcPct val="0"/>
              </a:spcBef>
            </a:pPr>
          </a:p>
        </p:txBody>
      </p:sp>
      <p:sp>
        <p:nvSpPr>
          <p:cNvPr name="TextBox 9" id="9"/>
          <p:cNvSpPr txBox="true"/>
          <p:nvPr/>
        </p:nvSpPr>
        <p:spPr>
          <a:xfrm rot="0">
            <a:off x="3162687" y="1324887"/>
            <a:ext cx="3333750" cy="625475"/>
          </a:xfrm>
          <a:prstGeom prst="rect">
            <a:avLst/>
          </a:prstGeom>
        </p:spPr>
        <p:txBody>
          <a:bodyPr anchor="t" rtlCol="false" tIns="0" lIns="0" bIns="0" rIns="0">
            <a:spAutoFit/>
          </a:bodyPr>
          <a:lstStyle/>
          <a:p>
            <a:pPr algn="ctr">
              <a:lnSpc>
                <a:spcPts val="4900"/>
              </a:lnSpc>
              <a:spcBef>
                <a:spcPct val="0"/>
              </a:spcBef>
            </a:pPr>
            <a:r>
              <a:rPr lang="en-US" b="true" sz="3500">
                <a:solidFill>
                  <a:srgbClr val="000000"/>
                </a:solidFill>
                <a:latin typeface="Times New Roman Bold"/>
                <a:ea typeface="Times New Roman Bold"/>
                <a:cs typeface="Times New Roman Bold"/>
                <a:sym typeface="Times New Roman Bold"/>
              </a:rPr>
              <a:t>Analytics &amp; KPIs</a:t>
            </a:r>
          </a:p>
        </p:txBody>
      </p:sp>
    </p:spTree>
  </p:cSld>
  <p:clrMapOvr>
    <a:masterClrMapping/>
  </p:clrMapOvr>
</p:sld>
</file>

<file path=ppt/slides/slide1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4041361" y="-2496160"/>
            <a:ext cx="15656483" cy="15656483"/>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AEBE9"/>
            </a:solidFill>
          </p:spPr>
        </p:sp>
        <p:sp>
          <p:nvSpPr>
            <p:cNvPr name="TextBox 4" id="4"/>
            <p:cNvSpPr txBox="true"/>
            <p:nvPr/>
          </p:nvSpPr>
          <p:spPr>
            <a:xfrm>
              <a:off x="76200" y="19050"/>
              <a:ext cx="660400" cy="717550"/>
            </a:xfrm>
            <a:prstGeom prst="rect">
              <a:avLst/>
            </a:prstGeom>
          </p:spPr>
          <p:txBody>
            <a:bodyPr anchor="ctr" rtlCol="false" tIns="50800" lIns="50800" bIns="50800" rIns="50800"/>
            <a:lstStyle/>
            <a:p>
              <a:pPr algn="ctr">
                <a:lnSpc>
                  <a:spcPts val="3012"/>
                </a:lnSpc>
              </a:pPr>
            </a:p>
          </p:txBody>
        </p:sp>
      </p:grpSp>
      <p:sp>
        <p:nvSpPr>
          <p:cNvPr name="TextBox 5" id="5"/>
          <p:cNvSpPr txBox="true"/>
          <p:nvPr/>
        </p:nvSpPr>
        <p:spPr>
          <a:xfrm rot="0">
            <a:off x="1560875" y="2477554"/>
            <a:ext cx="13832605" cy="4340225"/>
          </a:xfrm>
          <a:prstGeom prst="rect">
            <a:avLst/>
          </a:prstGeom>
        </p:spPr>
        <p:txBody>
          <a:bodyPr anchor="t" rtlCol="false" tIns="0" lIns="0" bIns="0" rIns="0">
            <a:spAutoFit/>
          </a:bodyPr>
          <a:lstStyle/>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Apache Airflow acts as the workflow orchestration layer for the project</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It controls the execution order of ETL stages (Bronze → Silver → Gold)</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Ensur</a:t>
            </a:r>
            <a:r>
              <a:rPr lang="en-US" sz="3500">
                <a:solidFill>
                  <a:srgbClr val="000000"/>
                </a:solidFill>
                <a:latin typeface="Times New Roman"/>
                <a:ea typeface="Times New Roman"/>
                <a:cs typeface="Times New Roman"/>
                <a:sym typeface="Times New Roman"/>
              </a:rPr>
              <a:t>es downstream tasks run only after upstream tasks succeed</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A</a:t>
            </a:r>
            <a:r>
              <a:rPr lang="en-US" sz="3500">
                <a:solidFill>
                  <a:srgbClr val="000000"/>
                </a:solidFill>
                <a:latin typeface="Times New Roman"/>
                <a:ea typeface="Times New Roman"/>
                <a:cs typeface="Times New Roman"/>
                <a:sym typeface="Times New Roman"/>
              </a:rPr>
              <a:t>utomatically retries failed tasks to handle temporary issues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Provides centralized monitoring and logging for the entire pipeline</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Improv</a:t>
            </a:r>
            <a:r>
              <a:rPr lang="en-US" sz="3500">
                <a:solidFill>
                  <a:srgbClr val="000000"/>
                </a:solidFill>
                <a:latin typeface="Times New Roman"/>
                <a:ea typeface="Times New Roman"/>
                <a:cs typeface="Times New Roman"/>
                <a:sym typeface="Times New Roman"/>
              </a:rPr>
              <a:t>es</a:t>
            </a:r>
            <a:r>
              <a:rPr lang="en-US" sz="3500">
                <a:solidFill>
                  <a:srgbClr val="000000"/>
                </a:solidFill>
                <a:latin typeface="Times New Roman"/>
                <a:ea typeface="Times New Roman"/>
                <a:cs typeface="Times New Roman"/>
                <a:sym typeface="Times New Roman"/>
              </a:rPr>
              <a:t> re</a:t>
            </a:r>
            <a:r>
              <a:rPr lang="en-US" sz="3500">
                <a:solidFill>
                  <a:srgbClr val="000000"/>
                </a:solidFill>
                <a:latin typeface="Times New Roman"/>
                <a:ea typeface="Times New Roman"/>
                <a:cs typeface="Times New Roman"/>
                <a:sym typeface="Times New Roman"/>
              </a:rPr>
              <a:t>l</a:t>
            </a:r>
            <a:r>
              <a:rPr lang="en-US" sz="3500">
                <a:solidFill>
                  <a:srgbClr val="000000"/>
                </a:solidFill>
                <a:latin typeface="Times New Roman"/>
                <a:ea typeface="Times New Roman"/>
                <a:cs typeface="Times New Roman"/>
                <a:sym typeface="Times New Roman"/>
              </a:rPr>
              <a:t>iabili</a:t>
            </a:r>
            <a:r>
              <a:rPr lang="en-US" sz="3500">
                <a:solidFill>
                  <a:srgbClr val="000000"/>
                </a:solidFill>
                <a:latin typeface="Times New Roman"/>
                <a:ea typeface="Times New Roman"/>
                <a:cs typeface="Times New Roman"/>
                <a:sym typeface="Times New Roman"/>
              </a:rPr>
              <a:t>t</a:t>
            </a:r>
            <a:r>
              <a:rPr lang="en-US" sz="3500">
                <a:solidFill>
                  <a:srgbClr val="000000"/>
                </a:solidFill>
                <a:latin typeface="Times New Roman"/>
                <a:ea typeface="Times New Roman"/>
                <a:cs typeface="Times New Roman"/>
                <a:sym typeface="Times New Roman"/>
              </a:rPr>
              <a:t>y, maintainability, and automation of data pipelines</a:t>
            </a:r>
          </a:p>
          <a:p>
            <a:pPr algn="l" marL="0" indent="0" lvl="0">
              <a:lnSpc>
                <a:spcPts val="4900"/>
              </a:lnSpc>
              <a:spcBef>
                <a:spcPct val="0"/>
              </a:spcBef>
            </a:pPr>
          </a:p>
        </p:txBody>
      </p:sp>
      <p:sp>
        <p:nvSpPr>
          <p:cNvPr name="TextBox 6" id="6"/>
          <p:cNvSpPr txBox="true"/>
          <p:nvPr/>
        </p:nvSpPr>
        <p:spPr>
          <a:xfrm rot="0">
            <a:off x="1028700" y="639970"/>
            <a:ext cx="15749066" cy="1066800"/>
          </a:xfrm>
          <a:prstGeom prst="rect">
            <a:avLst/>
          </a:prstGeom>
        </p:spPr>
        <p:txBody>
          <a:bodyPr anchor="t" rtlCol="false" tIns="0" lIns="0" bIns="0" rIns="0">
            <a:spAutoFit/>
          </a:bodyPr>
          <a:lstStyle/>
          <a:p>
            <a:pPr algn="l"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ROLE OF APACHE AIRFLOW</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74625" y="2192606"/>
            <a:ext cx="11227926" cy="3505585"/>
            <a:chOff x="0" y="0"/>
            <a:chExt cx="2957149" cy="923282"/>
          </a:xfrm>
        </p:grpSpPr>
        <p:sp>
          <p:nvSpPr>
            <p:cNvPr name="Freeform 3" id="3"/>
            <p:cNvSpPr/>
            <p:nvPr/>
          </p:nvSpPr>
          <p:spPr>
            <a:xfrm flipH="false" flipV="false" rot="0">
              <a:off x="0" y="0"/>
              <a:ext cx="2957149" cy="923282"/>
            </a:xfrm>
            <a:custGeom>
              <a:avLst/>
              <a:gdLst/>
              <a:ahLst/>
              <a:cxnLst/>
              <a:rect r="r" b="b" t="t" l="l"/>
              <a:pathLst>
                <a:path h="923282" w="2957149">
                  <a:moveTo>
                    <a:pt x="0" y="0"/>
                  </a:moveTo>
                  <a:lnTo>
                    <a:pt x="2957149" y="0"/>
                  </a:lnTo>
                  <a:lnTo>
                    <a:pt x="2957149" y="923282"/>
                  </a:lnTo>
                  <a:lnTo>
                    <a:pt x="0" y="923282"/>
                  </a:lnTo>
                  <a:close/>
                </a:path>
              </a:pathLst>
            </a:custGeom>
            <a:solidFill>
              <a:srgbClr val="EAEBE9"/>
            </a:solidFill>
          </p:spPr>
        </p:sp>
        <p:sp>
          <p:nvSpPr>
            <p:cNvPr name="TextBox 4" id="4"/>
            <p:cNvSpPr txBox="true"/>
            <p:nvPr/>
          </p:nvSpPr>
          <p:spPr>
            <a:xfrm>
              <a:off x="0" y="-66675"/>
              <a:ext cx="2957149" cy="989957"/>
            </a:xfrm>
            <a:prstGeom prst="rect">
              <a:avLst/>
            </a:prstGeom>
          </p:spPr>
          <p:txBody>
            <a:bodyPr anchor="ctr" rtlCol="false" tIns="50800" lIns="50800" bIns="50800" rIns="50800"/>
            <a:lstStyle/>
            <a:p>
              <a:pPr algn="ctr">
                <a:lnSpc>
                  <a:spcPts val="3665"/>
                </a:lnSpc>
              </a:pPr>
            </a:p>
          </p:txBody>
        </p:sp>
      </p:grpSp>
      <p:sp>
        <p:nvSpPr>
          <p:cNvPr name="Freeform 5" id="5"/>
          <p:cNvSpPr/>
          <p:nvPr/>
        </p:nvSpPr>
        <p:spPr>
          <a:xfrm flipH="false" flipV="false" rot="0">
            <a:off x="11246256" y="2447963"/>
            <a:ext cx="5654881" cy="3326401"/>
          </a:xfrm>
          <a:custGeom>
            <a:avLst/>
            <a:gdLst/>
            <a:ahLst/>
            <a:cxnLst/>
            <a:rect r="r" b="b" t="t" l="l"/>
            <a:pathLst>
              <a:path h="3326401" w="5654881">
                <a:moveTo>
                  <a:pt x="0" y="0"/>
                </a:moveTo>
                <a:lnTo>
                  <a:pt x="5654881" y="0"/>
                </a:lnTo>
                <a:lnTo>
                  <a:pt x="5654881" y="3326400"/>
                </a:lnTo>
                <a:lnTo>
                  <a:pt x="0" y="3326400"/>
                </a:lnTo>
                <a:lnTo>
                  <a:pt x="0" y="0"/>
                </a:lnTo>
                <a:close/>
              </a:path>
            </a:pathLst>
          </a:custGeom>
          <a:blipFill>
            <a:blip r:embed="rId2"/>
            <a:stretch>
              <a:fillRect l="-18174" t="-55482" r="-190938" b="-70479"/>
            </a:stretch>
          </a:blipFill>
        </p:spPr>
      </p:sp>
      <p:sp>
        <p:nvSpPr>
          <p:cNvPr name="Freeform 6" id="6"/>
          <p:cNvSpPr/>
          <p:nvPr/>
        </p:nvSpPr>
        <p:spPr>
          <a:xfrm flipH="false" flipV="false" rot="0">
            <a:off x="2018094" y="6073698"/>
            <a:ext cx="14251812" cy="3803088"/>
          </a:xfrm>
          <a:custGeom>
            <a:avLst/>
            <a:gdLst/>
            <a:ahLst/>
            <a:cxnLst/>
            <a:rect r="r" b="b" t="t" l="l"/>
            <a:pathLst>
              <a:path h="3803088" w="14251812">
                <a:moveTo>
                  <a:pt x="0" y="0"/>
                </a:moveTo>
                <a:lnTo>
                  <a:pt x="14251812" y="0"/>
                </a:lnTo>
                <a:lnTo>
                  <a:pt x="14251812" y="3803088"/>
                </a:lnTo>
                <a:lnTo>
                  <a:pt x="0" y="3803088"/>
                </a:lnTo>
                <a:lnTo>
                  <a:pt x="0" y="0"/>
                </a:lnTo>
                <a:close/>
              </a:path>
            </a:pathLst>
          </a:custGeom>
          <a:blipFill>
            <a:blip r:embed="rId3"/>
            <a:stretch>
              <a:fillRect l="0" t="-8620" r="0" b="-8620"/>
            </a:stretch>
          </a:blipFill>
        </p:spPr>
      </p:sp>
      <p:sp>
        <p:nvSpPr>
          <p:cNvPr name="TextBox 7" id="7"/>
          <p:cNvSpPr txBox="true"/>
          <p:nvPr/>
        </p:nvSpPr>
        <p:spPr>
          <a:xfrm rot="0">
            <a:off x="2990206" y="741250"/>
            <a:ext cx="11837212" cy="984885"/>
          </a:xfrm>
          <a:prstGeom prst="rect">
            <a:avLst/>
          </a:prstGeom>
        </p:spPr>
        <p:txBody>
          <a:bodyPr anchor="t" rtlCol="false" tIns="0" lIns="0" bIns="0" rIns="0">
            <a:spAutoFit/>
          </a:bodyPr>
          <a:lstStyle/>
          <a:p>
            <a:pPr algn="l" marL="0" indent="0" lvl="0">
              <a:lnSpc>
                <a:spcPts val="7620"/>
              </a:lnSpc>
            </a:pPr>
            <a:r>
              <a:rPr lang="en-US" b="true" sz="6000">
                <a:solidFill>
                  <a:srgbClr val="000000"/>
                </a:solidFill>
                <a:latin typeface="Times New Roman Bold"/>
                <a:ea typeface="Times New Roman Bold"/>
                <a:cs typeface="Times New Roman Bold"/>
                <a:sym typeface="Times New Roman Bold"/>
              </a:rPr>
              <a:t>APACHE AIRFLOW</a:t>
            </a:r>
          </a:p>
        </p:txBody>
      </p:sp>
      <p:sp>
        <p:nvSpPr>
          <p:cNvPr name="TextBox 8" id="8"/>
          <p:cNvSpPr txBox="true"/>
          <p:nvPr/>
        </p:nvSpPr>
        <p:spPr>
          <a:xfrm rot="0">
            <a:off x="169865" y="2147108"/>
            <a:ext cx="8738947" cy="3721100"/>
          </a:xfrm>
          <a:prstGeom prst="rect">
            <a:avLst/>
          </a:prstGeom>
        </p:spPr>
        <p:txBody>
          <a:bodyPr anchor="t" rtlCol="false" tIns="0" lIns="0" bIns="0" rIns="0">
            <a:spAutoFit/>
          </a:bodyPr>
          <a:lstStyle/>
          <a:p>
            <a:pPr algn="l">
              <a:lnSpc>
                <a:spcPts val="4900"/>
              </a:lnSpc>
            </a:pPr>
            <a:r>
              <a:rPr lang="en-US" sz="3500" b="true">
                <a:solidFill>
                  <a:srgbClr val="000000"/>
                </a:solidFill>
                <a:latin typeface="Times New Roman Bold"/>
                <a:ea typeface="Times New Roman Bold"/>
                <a:cs typeface="Times New Roman Bold"/>
                <a:sym typeface="Times New Roman Bold"/>
              </a:rPr>
              <a:t>A</a:t>
            </a:r>
            <a:r>
              <a:rPr lang="en-US" sz="3500" b="true">
                <a:solidFill>
                  <a:srgbClr val="000000"/>
                </a:solidFill>
                <a:latin typeface="Times New Roman Bold"/>
                <a:ea typeface="Times New Roman Bold"/>
                <a:cs typeface="Times New Roman Bold"/>
                <a:sym typeface="Times New Roman Bold"/>
              </a:rPr>
              <a:t>irflow Implementation</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Orchestrates Bronze → Silver → Gold</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Enforces task dependencies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Retry logic for failures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Execution logging</a:t>
            </a:r>
          </a:p>
          <a:p>
            <a:pPr algn="l" marL="0" indent="0" lvl="0">
              <a:lnSpc>
                <a:spcPts val="4900"/>
              </a:lnSpc>
              <a:spcBef>
                <a:spcPct val="0"/>
              </a:spcBef>
            </a:pPr>
          </a:p>
        </p:txBody>
      </p:sp>
    </p:spTree>
  </p:cSld>
  <p:clrMapOvr>
    <a:masterClrMapping/>
  </p:clrMapOvr>
</p:sld>
</file>

<file path=ppt/slides/slide1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27591"/>
            <a:ext cx="14052397" cy="1780909"/>
            <a:chOff x="0" y="0"/>
            <a:chExt cx="3701043" cy="469046"/>
          </a:xfrm>
        </p:grpSpPr>
        <p:sp>
          <p:nvSpPr>
            <p:cNvPr name="Freeform 3" id="3"/>
            <p:cNvSpPr/>
            <p:nvPr/>
          </p:nvSpPr>
          <p:spPr>
            <a:xfrm flipH="false" flipV="false" rot="0">
              <a:off x="0" y="0"/>
              <a:ext cx="3701043" cy="469046"/>
            </a:xfrm>
            <a:custGeom>
              <a:avLst/>
              <a:gdLst/>
              <a:ahLst/>
              <a:cxnLst/>
              <a:rect r="r" b="b" t="t" l="l"/>
              <a:pathLst>
                <a:path h="469046" w="3701043">
                  <a:moveTo>
                    <a:pt x="0" y="0"/>
                  </a:moveTo>
                  <a:lnTo>
                    <a:pt x="3701043" y="0"/>
                  </a:lnTo>
                  <a:lnTo>
                    <a:pt x="3701043" y="469046"/>
                  </a:lnTo>
                  <a:lnTo>
                    <a:pt x="0" y="469046"/>
                  </a:lnTo>
                  <a:close/>
                </a:path>
              </a:pathLst>
            </a:custGeom>
            <a:solidFill>
              <a:srgbClr val="EAEBE9"/>
            </a:solidFill>
          </p:spPr>
        </p:sp>
        <p:sp>
          <p:nvSpPr>
            <p:cNvPr name="TextBox 4" id="4"/>
            <p:cNvSpPr txBox="true"/>
            <p:nvPr/>
          </p:nvSpPr>
          <p:spPr>
            <a:xfrm>
              <a:off x="0" y="-57150"/>
              <a:ext cx="3701043" cy="526196"/>
            </a:xfrm>
            <a:prstGeom prst="rect">
              <a:avLst/>
            </a:prstGeom>
          </p:spPr>
          <p:txBody>
            <a:bodyPr anchor="ctr" rtlCol="false" tIns="50800" lIns="50800" bIns="50800" rIns="50800"/>
            <a:lstStyle/>
            <a:p>
              <a:pPr algn="ctr">
                <a:lnSpc>
                  <a:spcPts val="3012"/>
                </a:lnSpc>
              </a:pPr>
            </a:p>
          </p:txBody>
        </p:sp>
      </p:grpSp>
      <p:grpSp>
        <p:nvGrpSpPr>
          <p:cNvPr name="Group 5" id="5"/>
          <p:cNvGrpSpPr/>
          <p:nvPr/>
        </p:nvGrpSpPr>
        <p:grpSpPr>
          <a:xfrm rot="0">
            <a:off x="15479920" y="8387800"/>
            <a:ext cx="3086100" cy="3086100"/>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EAEBE9"/>
            </a:solidFill>
          </p:spPr>
        </p:sp>
        <p:sp>
          <p:nvSpPr>
            <p:cNvPr name="TextBox 7" id="7"/>
            <p:cNvSpPr txBox="true"/>
            <p:nvPr/>
          </p:nvSpPr>
          <p:spPr>
            <a:xfrm>
              <a:off x="0" y="-57150"/>
              <a:ext cx="812800" cy="869950"/>
            </a:xfrm>
            <a:prstGeom prst="rect">
              <a:avLst/>
            </a:prstGeom>
          </p:spPr>
          <p:txBody>
            <a:bodyPr anchor="ctr" rtlCol="false" tIns="50800" lIns="50800" bIns="50800" rIns="50800"/>
            <a:lstStyle/>
            <a:p>
              <a:pPr algn="ctr">
                <a:lnSpc>
                  <a:spcPts val="3012"/>
                </a:lnSpc>
              </a:pPr>
            </a:p>
          </p:txBody>
        </p:sp>
      </p:grpSp>
      <p:sp>
        <p:nvSpPr>
          <p:cNvPr name="TextBox 8" id="8"/>
          <p:cNvSpPr txBox="true"/>
          <p:nvPr/>
        </p:nvSpPr>
        <p:spPr>
          <a:xfrm rot="0">
            <a:off x="537845" y="276308"/>
            <a:ext cx="13514552" cy="1222375"/>
          </a:xfrm>
          <a:prstGeom prst="rect">
            <a:avLst/>
          </a:prstGeom>
        </p:spPr>
        <p:txBody>
          <a:bodyPr anchor="t" rtlCol="false" tIns="0" lIns="0" bIns="0" rIns="0">
            <a:spAutoFit/>
          </a:bodyPr>
          <a:lstStyle/>
          <a:p>
            <a:pPr algn="ctr" marL="0" indent="0" lvl="0">
              <a:lnSpc>
                <a:spcPts val="9799"/>
              </a:lnSpc>
              <a:spcBef>
                <a:spcPct val="0"/>
              </a:spcBef>
            </a:pPr>
            <a:r>
              <a:rPr lang="en-US" b="true" sz="6999">
                <a:solidFill>
                  <a:srgbClr val="000000"/>
                </a:solidFill>
                <a:latin typeface="Times New Roman Bold"/>
                <a:ea typeface="Times New Roman Bold"/>
                <a:cs typeface="Times New Roman Bold"/>
                <a:sym typeface="Times New Roman Bold"/>
              </a:rPr>
              <a:t>POWER BI OVERVIEW</a:t>
            </a:r>
          </a:p>
        </p:txBody>
      </p:sp>
      <p:sp>
        <p:nvSpPr>
          <p:cNvPr name="TextBox 9" id="9"/>
          <p:cNvSpPr txBox="true"/>
          <p:nvPr/>
        </p:nvSpPr>
        <p:spPr>
          <a:xfrm rot="0">
            <a:off x="1028700" y="2571093"/>
            <a:ext cx="15653277" cy="4959350"/>
          </a:xfrm>
          <a:prstGeom prst="rect">
            <a:avLst/>
          </a:prstGeom>
        </p:spPr>
        <p:txBody>
          <a:bodyPr anchor="t" rtlCol="false" tIns="0" lIns="0" bIns="0" rIns="0">
            <a:spAutoFit/>
          </a:bodyPr>
          <a:lstStyle/>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Power BI is used as the visualization and reporting layer of the project to convert Gold-layer analytics data into interactive dashboards.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Connects directly to Gold tables for reporting</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Displays key business KPIs and trends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Supports filters, slicers, and drill-down analysis</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Enables business users to explore data interactively</a:t>
            </a:r>
          </a:p>
          <a:p>
            <a:pPr algn="l" marL="755651" indent="-377825" lvl="1">
              <a:lnSpc>
                <a:spcPts val="4900"/>
              </a:lnSpc>
              <a:buFont typeface="Arial"/>
              <a:buChar char="•"/>
            </a:pPr>
            <a:r>
              <a:rPr lang="en-US" sz="3500">
                <a:solidFill>
                  <a:srgbClr val="000000"/>
                </a:solidFill>
                <a:latin typeface="Times New Roman"/>
                <a:ea typeface="Times New Roman"/>
                <a:cs typeface="Times New Roman"/>
                <a:sym typeface="Times New Roman"/>
              </a:rPr>
              <a:t>Power BI helps transform processed data into actionable insights for decision-makers.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023789" y="2075928"/>
            <a:ext cx="14695431" cy="8211072"/>
          </a:xfrm>
          <a:custGeom>
            <a:avLst/>
            <a:gdLst/>
            <a:ahLst/>
            <a:cxnLst/>
            <a:rect r="r" b="b" t="t" l="l"/>
            <a:pathLst>
              <a:path h="8211072" w="14695431">
                <a:moveTo>
                  <a:pt x="0" y="0"/>
                </a:moveTo>
                <a:lnTo>
                  <a:pt x="14695431" y="0"/>
                </a:lnTo>
                <a:lnTo>
                  <a:pt x="14695431" y="8211072"/>
                </a:lnTo>
                <a:lnTo>
                  <a:pt x="0" y="8211072"/>
                </a:lnTo>
                <a:lnTo>
                  <a:pt x="0" y="0"/>
                </a:lnTo>
                <a:close/>
              </a:path>
            </a:pathLst>
          </a:custGeom>
          <a:blipFill>
            <a:blip r:embed="rId2"/>
            <a:stretch>
              <a:fillRect l="0" t="0" r="0" b="0"/>
            </a:stretch>
          </a:blipFill>
        </p:spPr>
      </p:sp>
      <p:sp>
        <p:nvSpPr>
          <p:cNvPr name="TextBox 3" id="3"/>
          <p:cNvSpPr txBox="true"/>
          <p:nvPr/>
        </p:nvSpPr>
        <p:spPr>
          <a:xfrm rot="0">
            <a:off x="702162" y="462216"/>
            <a:ext cx="15794207" cy="941070"/>
          </a:xfrm>
          <a:prstGeom prst="rect">
            <a:avLst/>
          </a:prstGeom>
        </p:spPr>
        <p:txBody>
          <a:bodyPr anchor="t" rtlCol="false" tIns="0" lIns="0" bIns="0" rIns="0">
            <a:spAutoFit/>
          </a:bodyPr>
          <a:lstStyle/>
          <a:p>
            <a:pPr algn="l" marL="0" indent="0" lvl="0">
              <a:lnSpc>
                <a:spcPts val="7139"/>
              </a:lnSpc>
            </a:pPr>
            <a:r>
              <a:rPr lang="en-US" b="true" sz="6000">
                <a:solidFill>
                  <a:srgbClr val="000000"/>
                </a:solidFill>
                <a:latin typeface="Times New Roman Bold"/>
                <a:ea typeface="Times New Roman Bold"/>
                <a:cs typeface="Times New Roman Bold"/>
                <a:sym typeface="Times New Roman Bold"/>
              </a:rPr>
              <a:t>POWER BI DASHBOARDS</a:t>
            </a:r>
          </a:p>
        </p:txBody>
      </p:sp>
      <p:sp>
        <p:nvSpPr>
          <p:cNvPr name="TextBox 4" id="4"/>
          <p:cNvSpPr txBox="true"/>
          <p:nvPr/>
        </p:nvSpPr>
        <p:spPr>
          <a:xfrm rot="0">
            <a:off x="702162" y="1450453"/>
            <a:ext cx="7469842" cy="625475"/>
          </a:xfrm>
          <a:prstGeom prst="rect">
            <a:avLst/>
          </a:prstGeom>
        </p:spPr>
        <p:txBody>
          <a:bodyPr anchor="t" rtlCol="false" tIns="0" lIns="0" bIns="0" rIns="0">
            <a:spAutoFit/>
          </a:bodyPr>
          <a:lstStyle/>
          <a:p>
            <a:pPr algn="l" marL="0" indent="0" lvl="0">
              <a:lnSpc>
                <a:spcPts val="4900"/>
              </a:lnSpc>
              <a:spcBef>
                <a:spcPct val="0"/>
              </a:spcBef>
            </a:pPr>
            <a:r>
              <a:rPr lang="en-US" b="true" sz="3500">
                <a:solidFill>
                  <a:srgbClr val="000000"/>
                </a:solidFill>
                <a:latin typeface="Times New Roman Bold"/>
                <a:ea typeface="Times New Roman Bold"/>
                <a:cs typeface="Times New Roman Bold"/>
                <a:sym typeface="Times New Roman Bold"/>
              </a:rPr>
              <a:t>EXECUTIVE SALES OVERVIEW</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102646"/>
            <a:ext cx="16291537" cy="9184354"/>
          </a:xfrm>
          <a:custGeom>
            <a:avLst/>
            <a:gdLst/>
            <a:ahLst/>
            <a:cxnLst/>
            <a:rect r="r" b="b" t="t" l="l"/>
            <a:pathLst>
              <a:path h="9184354" w="16291537">
                <a:moveTo>
                  <a:pt x="0" y="0"/>
                </a:moveTo>
                <a:lnTo>
                  <a:pt x="16291537" y="0"/>
                </a:lnTo>
                <a:lnTo>
                  <a:pt x="16291537" y="9184354"/>
                </a:lnTo>
                <a:lnTo>
                  <a:pt x="0" y="9184354"/>
                </a:lnTo>
                <a:lnTo>
                  <a:pt x="0" y="0"/>
                </a:lnTo>
                <a:close/>
              </a:path>
            </a:pathLst>
          </a:custGeom>
          <a:blipFill>
            <a:blip r:embed="rId2"/>
            <a:stretch>
              <a:fillRect l="0" t="0" r="0" b="0"/>
            </a:stretch>
          </a:blipFill>
        </p:spPr>
      </p:sp>
      <p:sp>
        <p:nvSpPr>
          <p:cNvPr name="TextBox 3" id="3"/>
          <p:cNvSpPr txBox="true"/>
          <p:nvPr/>
        </p:nvSpPr>
        <p:spPr>
          <a:xfrm rot="0">
            <a:off x="581905" y="477171"/>
            <a:ext cx="9233984" cy="625475"/>
          </a:xfrm>
          <a:prstGeom prst="rect">
            <a:avLst/>
          </a:prstGeom>
        </p:spPr>
        <p:txBody>
          <a:bodyPr anchor="t" rtlCol="false" tIns="0" lIns="0" bIns="0" rIns="0">
            <a:spAutoFit/>
          </a:bodyPr>
          <a:lstStyle/>
          <a:p>
            <a:pPr algn="l" marL="0" indent="0" lvl="0">
              <a:lnSpc>
                <a:spcPts val="4900"/>
              </a:lnSpc>
              <a:spcBef>
                <a:spcPct val="0"/>
              </a:spcBef>
            </a:pPr>
            <a:r>
              <a:rPr lang="en-US" b="true" sz="3500">
                <a:solidFill>
                  <a:srgbClr val="000000"/>
                </a:solidFill>
                <a:latin typeface="Times New Roman Bold"/>
                <a:ea typeface="Times New Roman Bold"/>
                <a:cs typeface="Times New Roman Bold"/>
                <a:sym typeface="Times New Roman Bold"/>
              </a:rPr>
              <a:t>REGIONAL AND STORE PERFORMANCE</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194216" y="1102646"/>
            <a:ext cx="15899568" cy="8903758"/>
          </a:xfrm>
          <a:custGeom>
            <a:avLst/>
            <a:gdLst/>
            <a:ahLst/>
            <a:cxnLst/>
            <a:rect r="r" b="b" t="t" l="l"/>
            <a:pathLst>
              <a:path h="8903758" w="15899568">
                <a:moveTo>
                  <a:pt x="0" y="0"/>
                </a:moveTo>
                <a:lnTo>
                  <a:pt x="15899568" y="0"/>
                </a:lnTo>
                <a:lnTo>
                  <a:pt x="15899568" y="8903758"/>
                </a:lnTo>
                <a:lnTo>
                  <a:pt x="0" y="8903758"/>
                </a:lnTo>
                <a:lnTo>
                  <a:pt x="0" y="0"/>
                </a:lnTo>
                <a:close/>
              </a:path>
            </a:pathLst>
          </a:custGeom>
          <a:blipFill>
            <a:blip r:embed="rId2"/>
            <a:stretch>
              <a:fillRect l="0" t="0" r="0" b="0"/>
            </a:stretch>
          </a:blipFill>
        </p:spPr>
      </p:sp>
      <p:sp>
        <p:nvSpPr>
          <p:cNvPr name="TextBox 3" id="3"/>
          <p:cNvSpPr txBox="true"/>
          <p:nvPr/>
        </p:nvSpPr>
        <p:spPr>
          <a:xfrm rot="0">
            <a:off x="581905" y="477171"/>
            <a:ext cx="9446160" cy="625475"/>
          </a:xfrm>
          <a:prstGeom prst="rect">
            <a:avLst/>
          </a:prstGeom>
        </p:spPr>
        <p:txBody>
          <a:bodyPr anchor="t" rtlCol="false" tIns="0" lIns="0" bIns="0" rIns="0">
            <a:spAutoFit/>
          </a:bodyPr>
          <a:lstStyle/>
          <a:p>
            <a:pPr algn="l" marL="0" indent="0" lvl="0">
              <a:lnSpc>
                <a:spcPts val="4900"/>
              </a:lnSpc>
              <a:spcBef>
                <a:spcPct val="0"/>
              </a:spcBef>
            </a:pPr>
            <a:r>
              <a:rPr lang="en-US" b="true" sz="3500">
                <a:solidFill>
                  <a:srgbClr val="000000"/>
                </a:solidFill>
                <a:latin typeface="Times New Roman Bold"/>
                <a:ea typeface="Times New Roman Bold"/>
                <a:cs typeface="Times New Roman Bold"/>
                <a:sym typeface="Times New Roman Bold"/>
              </a:rPr>
              <a:t>PRODUCTS AND CUSTOMER ANALYTICS</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861961" y="1786005"/>
            <a:ext cx="3675083" cy="2275051"/>
          </a:xfrm>
          <a:custGeom>
            <a:avLst/>
            <a:gdLst/>
            <a:ahLst/>
            <a:cxnLst/>
            <a:rect r="r" b="b" t="t" l="l"/>
            <a:pathLst>
              <a:path h="2275051" w="3675083">
                <a:moveTo>
                  <a:pt x="0" y="0"/>
                </a:moveTo>
                <a:lnTo>
                  <a:pt x="3675082" y="0"/>
                </a:lnTo>
                <a:lnTo>
                  <a:pt x="3675082" y="2275051"/>
                </a:lnTo>
                <a:lnTo>
                  <a:pt x="0" y="2275051"/>
                </a:lnTo>
                <a:lnTo>
                  <a:pt x="0" y="0"/>
                </a:lnTo>
                <a:close/>
              </a:path>
            </a:pathLst>
          </a:custGeom>
          <a:blipFill>
            <a:blip r:embed="rId2"/>
            <a:stretch>
              <a:fillRect l="0" t="0" r="0" b="0"/>
            </a:stretch>
          </a:blipFill>
        </p:spPr>
      </p:sp>
      <p:sp>
        <p:nvSpPr>
          <p:cNvPr name="Freeform 3" id="3"/>
          <p:cNvSpPr/>
          <p:nvPr/>
        </p:nvSpPr>
        <p:spPr>
          <a:xfrm flipH="false" flipV="false" rot="0">
            <a:off x="1455721" y="1163073"/>
            <a:ext cx="7327738" cy="4342273"/>
          </a:xfrm>
          <a:custGeom>
            <a:avLst/>
            <a:gdLst/>
            <a:ahLst/>
            <a:cxnLst/>
            <a:rect r="r" b="b" t="t" l="l"/>
            <a:pathLst>
              <a:path h="4342273" w="7327738">
                <a:moveTo>
                  <a:pt x="0" y="0"/>
                </a:moveTo>
                <a:lnTo>
                  <a:pt x="7327737" y="0"/>
                </a:lnTo>
                <a:lnTo>
                  <a:pt x="7327737" y="4342273"/>
                </a:lnTo>
                <a:lnTo>
                  <a:pt x="0" y="4342273"/>
                </a:lnTo>
                <a:lnTo>
                  <a:pt x="0" y="0"/>
                </a:lnTo>
                <a:close/>
              </a:path>
            </a:pathLst>
          </a:custGeom>
          <a:blipFill>
            <a:blip r:embed="rId3"/>
            <a:stretch>
              <a:fillRect l="-196" t="-6225" r="-196" b="0"/>
            </a:stretch>
          </a:blipFill>
        </p:spPr>
      </p:sp>
      <p:sp>
        <p:nvSpPr>
          <p:cNvPr name="Freeform 4" id="4"/>
          <p:cNvSpPr/>
          <p:nvPr/>
        </p:nvSpPr>
        <p:spPr>
          <a:xfrm flipH="false" flipV="false" rot="0">
            <a:off x="9861961" y="4850114"/>
            <a:ext cx="6198514" cy="5128119"/>
          </a:xfrm>
          <a:custGeom>
            <a:avLst/>
            <a:gdLst/>
            <a:ahLst/>
            <a:cxnLst/>
            <a:rect r="r" b="b" t="t" l="l"/>
            <a:pathLst>
              <a:path h="5128119" w="6198514">
                <a:moveTo>
                  <a:pt x="0" y="0"/>
                </a:moveTo>
                <a:lnTo>
                  <a:pt x="6198514" y="0"/>
                </a:lnTo>
                <a:lnTo>
                  <a:pt x="6198514" y="5128120"/>
                </a:lnTo>
                <a:lnTo>
                  <a:pt x="0" y="5128120"/>
                </a:lnTo>
                <a:lnTo>
                  <a:pt x="0" y="0"/>
                </a:lnTo>
                <a:close/>
              </a:path>
            </a:pathLst>
          </a:custGeom>
          <a:blipFill>
            <a:blip r:embed="rId4"/>
            <a:stretch>
              <a:fillRect l="0" t="-7442" r="0" b="0"/>
            </a:stretch>
          </a:blipFill>
        </p:spPr>
      </p:sp>
      <p:sp>
        <p:nvSpPr>
          <p:cNvPr name="Freeform 5" id="5"/>
          <p:cNvSpPr/>
          <p:nvPr/>
        </p:nvSpPr>
        <p:spPr>
          <a:xfrm flipH="false" flipV="false" rot="0">
            <a:off x="3505782" y="6075910"/>
            <a:ext cx="4446822" cy="3182390"/>
          </a:xfrm>
          <a:custGeom>
            <a:avLst/>
            <a:gdLst/>
            <a:ahLst/>
            <a:cxnLst/>
            <a:rect r="r" b="b" t="t" l="l"/>
            <a:pathLst>
              <a:path h="3182390" w="4446822">
                <a:moveTo>
                  <a:pt x="0" y="0"/>
                </a:moveTo>
                <a:lnTo>
                  <a:pt x="4446822" y="0"/>
                </a:lnTo>
                <a:lnTo>
                  <a:pt x="4446822" y="3182390"/>
                </a:lnTo>
                <a:lnTo>
                  <a:pt x="0" y="3182390"/>
                </a:lnTo>
                <a:lnTo>
                  <a:pt x="0" y="0"/>
                </a:lnTo>
                <a:close/>
              </a:path>
            </a:pathLst>
          </a:custGeom>
          <a:blipFill>
            <a:blip r:embed="rId5"/>
            <a:stretch>
              <a:fillRect l="0" t="0" r="0" b="0"/>
            </a:stretch>
          </a:blipFill>
        </p:spPr>
      </p:sp>
      <p:sp>
        <p:nvSpPr>
          <p:cNvPr name="TextBox 6" id="6"/>
          <p:cNvSpPr txBox="true"/>
          <p:nvPr/>
        </p:nvSpPr>
        <p:spPr>
          <a:xfrm rot="0">
            <a:off x="581905" y="477171"/>
            <a:ext cx="8562095" cy="625475"/>
          </a:xfrm>
          <a:prstGeom prst="rect">
            <a:avLst/>
          </a:prstGeom>
        </p:spPr>
        <p:txBody>
          <a:bodyPr anchor="t" rtlCol="false" tIns="0" lIns="0" bIns="0" rIns="0">
            <a:spAutoFit/>
          </a:bodyPr>
          <a:lstStyle/>
          <a:p>
            <a:pPr algn="l" marL="0" indent="0" lvl="0">
              <a:lnSpc>
                <a:spcPts val="4900"/>
              </a:lnSpc>
              <a:spcBef>
                <a:spcPct val="0"/>
              </a:spcBef>
            </a:pPr>
            <a:r>
              <a:rPr lang="en-US" b="true" sz="3500">
                <a:solidFill>
                  <a:srgbClr val="000000"/>
                </a:solidFill>
                <a:latin typeface="Times New Roman Bold"/>
                <a:ea typeface="Times New Roman Bold"/>
                <a:cs typeface="Times New Roman Bold"/>
                <a:sym typeface="Times New Roman Bold"/>
              </a:rPr>
              <a:t>KPI VALIDATION</a:t>
            </a:r>
          </a:p>
        </p:txBody>
      </p:sp>
      <p:sp>
        <p:nvSpPr>
          <p:cNvPr name="TextBox 7" id="7"/>
          <p:cNvSpPr txBox="true"/>
          <p:nvPr/>
        </p:nvSpPr>
        <p:spPr>
          <a:xfrm rot="0">
            <a:off x="336713" y="1307229"/>
            <a:ext cx="1119008" cy="542925"/>
          </a:xfrm>
          <a:prstGeom prst="rect">
            <a:avLst/>
          </a:prstGeom>
        </p:spPr>
        <p:txBody>
          <a:bodyPr anchor="t" rtlCol="false" tIns="0" lIns="0" bIns="0" rIns="0">
            <a:spAutoFit/>
          </a:bodyPr>
          <a:lstStyle/>
          <a:p>
            <a:pPr algn="ctr">
              <a:lnSpc>
                <a:spcPts val="4200"/>
              </a:lnSpc>
              <a:spcBef>
                <a:spcPct val="0"/>
              </a:spcBef>
            </a:pPr>
            <a:r>
              <a:rPr lang="en-US" b="true" sz="3000">
                <a:solidFill>
                  <a:srgbClr val="000000"/>
                </a:solidFill>
                <a:latin typeface="Times New Roman Bold"/>
                <a:ea typeface="Times New Roman Bold"/>
                <a:cs typeface="Times New Roman Bold"/>
                <a:sym typeface="Times New Roman Bold"/>
              </a:rPr>
              <a:t>1.</a:t>
            </a:r>
          </a:p>
        </p:txBody>
      </p:sp>
      <p:sp>
        <p:nvSpPr>
          <p:cNvPr name="TextBox 8" id="8"/>
          <p:cNvSpPr txBox="true"/>
          <p:nvPr/>
        </p:nvSpPr>
        <p:spPr>
          <a:xfrm rot="0">
            <a:off x="336713" y="6235612"/>
            <a:ext cx="1119008" cy="542925"/>
          </a:xfrm>
          <a:prstGeom prst="rect">
            <a:avLst/>
          </a:prstGeom>
        </p:spPr>
        <p:txBody>
          <a:bodyPr anchor="t" rtlCol="false" tIns="0" lIns="0" bIns="0" rIns="0">
            <a:spAutoFit/>
          </a:bodyPr>
          <a:lstStyle/>
          <a:p>
            <a:pPr algn="ctr">
              <a:lnSpc>
                <a:spcPts val="4200"/>
              </a:lnSpc>
              <a:spcBef>
                <a:spcPct val="0"/>
              </a:spcBef>
            </a:pPr>
            <a:r>
              <a:rPr lang="en-US" b="true" sz="3000">
                <a:solidFill>
                  <a:srgbClr val="000000"/>
                </a:solidFill>
                <a:latin typeface="Times New Roman Bold"/>
                <a:ea typeface="Times New Roman Bold"/>
                <a:cs typeface="Times New Roman Bold"/>
                <a:sym typeface="Times New Roman Bold"/>
              </a:rPr>
              <a:t>2.</a:t>
            </a:r>
          </a:p>
        </p:txBody>
      </p:sp>
    </p:spTree>
  </p:cSld>
  <p:clrMapOvr>
    <a:masterClrMapping/>
  </p:clrMapOvr>
</p:sld>
</file>

<file path=ppt/slides/slide2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4041361" y="-2496160"/>
            <a:ext cx="15656483" cy="15656483"/>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AEBE9"/>
            </a:solidFill>
          </p:spPr>
        </p:sp>
        <p:sp>
          <p:nvSpPr>
            <p:cNvPr name="TextBox 4" id="4"/>
            <p:cNvSpPr txBox="true"/>
            <p:nvPr/>
          </p:nvSpPr>
          <p:spPr>
            <a:xfrm>
              <a:off x="76200" y="19050"/>
              <a:ext cx="660400" cy="717550"/>
            </a:xfrm>
            <a:prstGeom prst="rect">
              <a:avLst/>
            </a:prstGeom>
          </p:spPr>
          <p:txBody>
            <a:bodyPr anchor="ctr" rtlCol="false" tIns="50800" lIns="50800" bIns="50800" rIns="50800"/>
            <a:lstStyle/>
            <a:p>
              <a:pPr algn="ctr">
                <a:lnSpc>
                  <a:spcPts val="3012"/>
                </a:lnSpc>
              </a:pPr>
            </a:p>
          </p:txBody>
        </p:sp>
      </p:grpSp>
      <p:sp>
        <p:nvSpPr>
          <p:cNvPr name="TextBox 5" id="5"/>
          <p:cNvSpPr txBox="true"/>
          <p:nvPr/>
        </p:nvSpPr>
        <p:spPr>
          <a:xfrm rot="0">
            <a:off x="1560875" y="2700899"/>
            <a:ext cx="13443315" cy="4799478"/>
          </a:xfrm>
          <a:prstGeom prst="rect">
            <a:avLst/>
          </a:prstGeom>
        </p:spPr>
        <p:txBody>
          <a:bodyPr anchor="t" rtlCol="false" tIns="0" lIns="0" bIns="0" rIns="0">
            <a:spAutoFit/>
          </a:bodyPr>
          <a:lstStyle/>
          <a:p>
            <a:pPr algn="l">
              <a:lnSpc>
                <a:spcPts val="4786"/>
              </a:lnSpc>
            </a:pPr>
            <a:r>
              <a:rPr lang="en-US" sz="3419" b="true">
                <a:solidFill>
                  <a:srgbClr val="000000"/>
                </a:solidFill>
                <a:latin typeface="Times New Roman Bold"/>
                <a:ea typeface="Times New Roman Bold"/>
                <a:cs typeface="Times New Roman Bold"/>
                <a:sym typeface="Times New Roman Bold"/>
              </a:rPr>
              <a:t>Results Achieved</a:t>
            </a:r>
          </a:p>
          <a:p>
            <a:pPr algn="l" marL="738200" indent="-369100" lvl="1">
              <a:lnSpc>
                <a:spcPts val="4786"/>
              </a:lnSpc>
              <a:buFont typeface="Arial"/>
              <a:buChar char="•"/>
            </a:pPr>
            <a:r>
              <a:rPr lang="en-US" sz="3419">
                <a:solidFill>
                  <a:srgbClr val="000000"/>
                </a:solidFill>
                <a:latin typeface="Times New Roman"/>
                <a:ea typeface="Times New Roman"/>
                <a:cs typeface="Times New Roman"/>
                <a:sym typeface="Times New Roman"/>
              </a:rPr>
              <a:t>Clean, validated datasets</a:t>
            </a:r>
          </a:p>
          <a:p>
            <a:pPr algn="l" marL="738200" indent="-369100" lvl="1">
              <a:lnSpc>
                <a:spcPts val="4786"/>
              </a:lnSpc>
              <a:buFont typeface="Arial"/>
              <a:buChar char="•"/>
            </a:pPr>
            <a:r>
              <a:rPr lang="en-US" sz="3419">
                <a:solidFill>
                  <a:srgbClr val="000000"/>
                </a:solidFill>
                <a:latin typeface="Times New Roman"/>
                <a:ea typeface="Times New Roman"/>
                <a:cs typeface="Times New Roman"/>
                <a:sym typeface="Times New Roman"/>
              </a:rPr>
              <a:t>Improved data quality and insights</a:t>
            </a:r>
          </a:p>
          <a:p>
            <a:pPr algn="l" marL="738200" indent="-369100" lvl="1">
              <a:lnSpc>
                <a:spcPts val="4786"/>
              </a:lnSpc>
              <a:buFont typeface="Arial"/>
              <a:buChar char="•"/>
            </a:pPr>
            <a:r>
              <a:rPr lang="en-US" sz="3419">
                <a:solidFill>
                  <a:srgbClr val="000000"/>
                </a:solidFill>
                <a:latin typeface="Times New Roman"/>
                <a:ea typeface="Times New Roman"/>
                <a:cs typeface="Times New Roman"/>
                <a:sym typeface="Times New Roman"/>
              </a:rPr>
              <a:t>Business-ready analytics</a:t>
            </a:r>
          </a:p>
          <a:p>
            <a:pPr algn="l" marL="738200" indent="-369100" lvl="1">
              <a:lnSpc>
                <a:spcPts val="4786"/>
              </a:lnSpc>
              <a:buFont typeface="Arial"/>
              <a:buChar char="•"/>
            </a:pPr>
            <a:r>
              <a:rPr lang="en-US" sz="3419">
                <a:solidFill>
                  <a:srgbClr val="000000"/>
                </a:solidFill>
                <a:latin typeface="Times New Roman"/>
                <a:ea typeface="Times New Roman"/>
                <a:cs typeface="Times New Roman"/>
                <a:sym typeface="Times New Roman"/>
              </a:rPr>
              <a:t>Interactive dashboards</a:t>
            </a:r>
          </a:p>
          <a:p>
            <a:pPr algn="l" marL="738200" indent="-369100" lvl="1">
              <a:lnSpc>
                <a:spcPts val="4786"/>
              </a:lnSpc>
              <a:buFont typeface="Arial"/>
              <a:buChar char="•"/>
            </a:pPr>
            <a:r>
              <a:rPr lang="en-US" sz="3419">
                <a:solidFill>
                  <a:srgbClr val="000000"/>
                </a:solidFill>
                <a:latin typeface="Times New Roman"/>
                <a:ea typeface="Times New Roman"/>
                <a:cs typeface="Times New Roman"/>
                <a:sym typeface="Times New Roman"/>
              </a:rPr>
              <a:t>Fully automated ETL pipeline</a:t>
            </a:r>
          </a:p>
          <a:p>
            <a:pPr algn="l" marL="738200" indent="-369100" lvl="1">
              <a:lnSpc>
                <a:spcPts val="4786"/>
              </a:lnSpc>
              <a:buFont typeface="Arial"/>
              <a:buChar char="•"/>
            </a:pPr>
            <a:r>
              <a:rPr lang="en-US" sz="3419">
                <a:solidFill>
                  <a:srgbClr val="000000"/>
                </a:solidFill>
                <a:latin typeface="Times New Roman"/>
                <a:ea typeface="Times New Roman"/>
                <a:cs typeface="Times New Roman"/>
                <a:sym typeface="Times New Roman"/>
              </a:rPr>
              <a:t>Successfully built an end-to-end analytics system</a:t>
            </a:r>
          </a:p>
          <a:p>
            <a:pPr algn="l" marL="0" indent="0" lvl="0">
              <a:lnSpc>
                <a:spcPts val="4786"/>
              </a:lnSpc>
              <a:spcBef>
                <a:spcPct val="0"/>
              </a:spcBef>
            </a:pPr>
          </a:p>
        </p:txBody>
      </p:sp>
      <p:sp>
        <p:nvSpPr>
          <p:cNvPr name="TextBox 6" id="6"/>
          <p:cNvSpPr txBox="true"/>
          <p:nvPr/>
        </p:nvSpPr>
        <p:spPr>
          <a:xfrm rot="0">
            <a:off x="1510234" y="664124"/>
            <a:ext cx="15749066" cy="1066800"/>
          </a:xfrm>
          <a:prstGeom prst="rect">
            <a:avLst/>
          </a:prstGeom>
        </p:spPr>
        <p:txBody>
          <a:bodyPr anchor="t" rtlCol="false" tIns="0" lIns="0" bIns="0" rIns="0">
            <a:spAutoFit/>
          </a:bodyPr>
          <a:lstStyle/>
          <a:p>
            <a:pPr algn="l" marL="0" indent="0" lvl="0">
              <a:lnSpc>
                <a:spcPts val="8400"/>
              </a:lnSpc>
              <a:spcBef>
                <a:spcPct val="0"/>
              </a:spcBef>
            </a:pPr>
            <a:r>
              <a:rPr lang="en-US" b="true" sz="6000">
                <a:solidFill>
                  <a:srgbClr val="000000"/>
                </a:solidFill>
                <a:latin typeface="Times New Roman Bold"/>
                <a:ea typeface="Times New Roman Bold"/>
                <a:cs typeface="Times New Roman Bold"/>
                <a:sym typeface="Times New Roman Bold"/>
              </a:rPr>
              <a:t>RESULTS</a:t>
            </a:r>
          </a:p>
        </p:txBody>
      </p:sp>
    </p:spTree>
  </p:cSld>
  <p:clrMapOvr>
    <a:masterClrMapping/>
  </p:clrMapOvr>
</p:sld>
</file>

<file path=ppt/slides/slide2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3756206" y="-514350"/>
            <a:ext cx="6163724" cy="3086100"/>
            <a:chOff x="0" y="0"/>
            <a:chExt cx="1623368" cy="812800"/>
          </a:xfrm>
        </p:grpSpPr>
        <p:sp>
          <p:nvSpPr>
            <p:cNvPr name="Freeform 3" id="3"/>
            <p:cNvSpPr/>
            <p:nvPr/>
          </p:nvSpPr>
          <p:spPr>
            <a:xfrm flipH="false" flipV="false" rot="0">
              <a:off x="0" y="0"/>
              <a:ext cx="1623368" cy="812800"/>
            </a:xfrm>
            <a:custGeom>
              <a:avLst/>
              <a:gdLst/>
              <a:ahLst/>
              <a:cxnLst/>
              <a:rect r="r" b="b" t="t" l="l"/>
              <a:pathLst>
                <a:path h="812800" w="1623368">
                  <a:moveTo>
                    <a:pt x="0" y="0"/>
                  </a:moveTo>
                  <a:lnTo>
                    <a:pt x="1623368" y="0"/>
                  </a:lnTo>
                  <a:lnTo>
                    <a:pt x="1623368" y="812800"/>
                  </a:lnTo>
                  <a:lnTo>
                    <a:pt x="0" y="812800"/>
                  </a:lnTo>
                  <a:close/>
                </a:path>
              </a:pathLst>
            </a:custGeom>
            <a:solidFill>
              <a:srgbClr val="EAEBE9"/>
            </a:solidFill>
          </p:spPr>
        </p:sp>
        <p:sp>
          <p:nvSpPr>
            <p:cNvPr name="TextBox 4" id="4"/>
            <p:cNvSpPr txBox="true"/>
            <p:nvPr/>
          </p:nvSpPr>
          <p:spPr>
            <a:xfrm>
              <a:off x="0" y="-57150"/>
              <a:ext cx="1623368" cy="869950"/>
            </a:xfrm>
            <a:prstGeom prst="rect">
              <a:avLst/>
            </a:prstGeom>
          </p:spPr>
          <p:txBody>
            <a:bodyPr anchor="ctr" rtlCol="false" tIns="50800" lIns="50800" bIns="50800" rIns="50800"/>
            <a:lstStyle/>
            <a:p>
              <a:pPr algn="ctr">
                <a:lnSpc>
                  <a:spcPts val="3012"/>
                </a:lnSpc>
              </a:pPr>
            </a:p>
          </p:txBody>
        </p:sp>
      </p:grpSp>
      <p:grpSp>
        <p:nvGrpSpPr>
          <p:cNvPr name="Group 5" id="5"/>
          <p:cNvGrpSpPr/>
          <p:nvPr/>
        </p:nvGrpSpPr>
        <p:grpSpPr>
          <a:xfrm rot="0">
            <a:off x="-2582136" y="8362283"/>
            <a:ext cx="7059741" cy="3086100"/>
            <a:chOff x="0" y="0"/>
            <a:chExt cx="1859356" cy="812800"/>
          </a:xfrm>
        </p:grpSpPr>
        <p:sp>
          <p:nvSpPr>
            <p:cNvPr name="Freeform 6" id="6"/>
            <p:cNvSpPr/>
            <p:nvPr/>
          </p:nvSpPr>
          <p:spPr>
            <a:xfrm flipH="false" flipV="false" rot="0">
              <a:off x="0" y="0"/>
              <a:ext cx="1859356" cy="812800"/>
            </a:xfrm>
            <a:custGeom>
              <a:avLst/>
              <a:gdLst/>
              <a:ahLst/>
              <a:cxnLst/>
              <a:rect r="r" b="b" t="t" l="l"/>
              <a:pathLst>
                <a:path h="812800" w="1859356">
                  <a:moveTo>
                    <a:pt x="0" y="0"/>
                  </a:moveTo>
                  <a:lnTo>
                    <a:pt x="1859356" y="0"/>
                  </a:lnTo>
                  <a:lnTo>
                    <a:pt x="1859356" y="812800"/>
                  </a:lnTo>
                  <a:lnTo>
                    <a:pt x="0" y="812800"/>
                  </a:lnTo>
                  <a:close/>
                </a:path>
              </a:pathLst>
            </a:custGeom>
            <a:solidFill>
              <a:srgbClr val="EAEBE9"/>
            </a:solidFill>
          </p:spPr>
        </p:sp>
        <p:sp>
          <p:nvSpPr>
            <p:cNvPr name="TextBox 7" id="7"/>
            <p:cNvSpPr txBox="true"/>
            <p:nvPr/>
          </p:nvSpPr>
          <p:spPr>
            <a:xfrm>
              <a:off x="0" y="-57150"/>
              <a:ext cx="1859356" cy="869950"/>
            </a:xfrm>
            <a:prstGeom prst="rect">
              <a:avLst/>
            </a:prstGeom>
          </p:spPr>
          <p:txBody>
            <a:bodyPr anchor="ctr" rtlCol="false" tIns="50800" lIns="50800" bIns="50800" rIns="50800"/>
            <a:lstStyle/>
            <a:p>
              <a:pPr algn="ctr">
                <a:lnSpc>
                  <a:spcPts val="3012"/>
                </a:lnSpc>
              </a:pPr>
            </a:p>
          </p:txBody>
        </p:sp>
      </p:grpSp>
      <p:sp>
        <p:nvSpPr>
          <p:cNvPr name="TextBox 8" id="8"/>
          <p:cNvSpPr txBox="true"/>
          <p:nvPr/>
        </p:nvSpPr>
        <p:spPr>
          <a:xfrm rot="0">
            <a:off x="1771519" y="2680002"/>
            <a:ext cx="14744962" cy="5602605"/>
          </a:xfrm>
          <a:prstGeom prst="rect">
            <a:avLst/>
          </a:prstGeom>
        </p:spPr>
        <p:txBody>
          <a:bodyPr anchor="t" rtlCol="false" tIns="0" lIns="0" bIns="0" rIns="0">
            <a:spAutoFit/>
          </a:bodyPr>
          <a:lstStyle/>
          <a:p>
            <a:pPr algn="ctr" marL="0" indent="0" lvl="0">
              <a:lnSpc>
                <a:spcPts val="21659"/>
              </a:lnSpc>
            </a:pPr>
            <a:r>
              <a:rPr lang="en-US" b="true" sz="18999">
                <a:solidFill>
                  <a:srgbClr val="000000"/>
                </a:solidFill>
                <a:latin typeface="Times New Roman Bold"/>
                <a:ea typeface="Times New Roman Bold"/>
                <a:cs typeface="Times New Roman Bold"/>
                <a:sym typeface="Times New Roman 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DAG9dtLJvqc</dc:identifier>
  <dcterms:modified xsi:type="dcterms:W3CDTF">2011-08-01T06:04:30Z</dcterms:modified>
  <cp:revision>1</cp:revision>
  <dc:title>Global Sales &amp; Retail Performance Analytics System</dc:title>
</cp:coreProperties>
</file>